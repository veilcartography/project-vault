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 type="screen4x3"/>
  <p:notesSz cx="6858000" cy="9144000"/>
  <p:embeddedFontLst>
    <p:embeddedFont>
      <p:font typeface="Source Code Pro" pitchFamily="2" charset="0"/>
      <p:regular r:id="rId8"/>
      <p:bold r:id="rId10"/>
      <p:italic r:id="rId11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2C55E"/>
              </a:solidFill>
              <a:ln w="38100">
                <a:solidFill>
                  <a:srgbClr val="0F2A18"/>
                </a:solidFill>
              </a:ln>
            </c:spPr>
          </c:dPt>
          <c:dPt>
            <c:idx val="1"/>
            <c:spPr>
              <a:solidFill>
                <a:srgbClr val="50D380"/>
              </a:solidFill>
              <a:ln w="38100">
                <a:solidFill>
                  <a:srgbClr val="0F2A18"/>
                </a:solidFill>
              </a:ln>
            </c:spPr>
          </c:dPt>
          <c:dPt>
            <c:idx val="2"/>
            <c:spPr>
              <a:solidFill>
                <a:srgbClr val="16A34A"/>
              </a:solidFill>
              <a:ln w="38100">
                <a:solidFill>
                  <a:srgbClr val="0F2A18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Greetings</c:v>
                </c:pt>
                <c:pt idx="1">
                  <c:v>Polite Phrases</c:v>
                </c:pt>
                <c:pt idx="2">
                  <c:v>Farewells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spPr>
    <a:solidFill>
      <a:srgbClr val="0A1A16">
        <a:alpha val="80000"/>
      </a:srgbClr>
    </a:solidFill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50D380"/>
              </a:solidFill>
            </c:spPr>
          </c:dPt>
          <c:dPt>
            <c:idx val="2"/>
            <c:spPr>
              <a:solidFill>
                <a:srgbClr val="16A34A"/>
              </a:solidFill>
            </c:spPr>
          </c:dPt>
          <c:cat>
            <c:strRef>
              <c:f>Sheet1!$A$2:$A$4</c:f>
              <c:strCache>
                <c:ptCount val="3"/>
                <c:pt idx="0">
                  <c:v>Greetings</c:v>
                </c:pt>
                <c:pt idx="1">
                  <c:v>Pronouns &amp; Ser</c:v>
                </c:pt>
                <c:pt idx="2">
                  <c:v>Numbers/Colors/Adj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spPr>
    <a:solidFill>
      <a:srgbClr val="0A1A16">
        <a:alpha val="80000"/>
      </a:srgbClr>
    </a:solidFill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Relationship Id="rId20" Type="http://schemas.openxmlformats.org/officeDocument/2006/relationships/image" Target="../media/image54.png"/><Relationship Id="rId21" Type="http://schemas.openxmlformats.org/officeDocument/2006/relationships/image" Target="../media/image55.png"/><Relationship Id="rId22" Type="http://schemas.openxmlformats.org/officeDocument/2006/relationships/image" Target="../media/image56.png"/><Relationship Id="rId23" Type="http://schemas.openxmlformats.org/officeDocument/2006/relationships/image" Target="../media/image57.png"/><Relationship Id="rId24" Type="http://schemas.openxmlformats.org/officeDocument/2006/relationships/image" Target="../media/image58.png"/><Relationship Id="rId25" Type="http://schemas.openxmlformats.org/officeDocument/2006/relationships/image" Target="../media/image59.png"/><Relationship Id="rId26" Type="http://schemas.openxmlformats.org/officeDocument/2006/relationships/image" Target="../media/image60.png"/><Relationship Id="rId27" Type="http://schemas.openxmlformats.org/officeDocument/2006/relationships/image" Target="../media/image61.png"/><Relationship Id="rId28" Type="http://schemas.openxmlformats.org/officeDocument/2006/relationships/image" Target="../media/image62.png"/><Relationship Id="rId29" Type="http://schemas.openxmlformats.org/officeDocument/2006/relationships/image" Target="../media/image63.png"/><Relationship Id="rId30" Type="http://schemas.openxmlformats.org/officeDocument/2006/relationships/image" Target="../media/image64.png"/><Relationship Id="rId31" Type="http://schemas.openxmlformats.org/officeDocument/2006/relationships/image" Target="../media/image65.png"/><Relationship Id="rId32" Type="http://schemas.openxmlformats.org/officeDocument/2006/relationships/image" Target="../media/image66.png"/><Relationship Id="rId33" Type="http://schemas.openxmlformats.org/officeDocument/2006/relationships/image" Target="../media/image67.png"/><Relationship Id="rId34" Type="http://schemas.openxmlformats.org/officeDocument/2006/relationships/image" Target="../media/image68.png"/><Relationship Id="rId35" Type="http://schemas.openxmlformats.org/officeDocument/2006/relationships/image" Target="../media/image69.png"/><Relationship Id="rId36" Type="http://schemas.openxmlformats.org/officeDocument/2006/relationships/image" Target="../media/image70.png"/><Relationship Id="rId37" Type="http://schemas.openxmlformats.org/officeDocument/2006/relationships/image" Target="../media/image71.png"/><Relationship Id="rId38" Type="http://schemas.openxmlformats.org/officeDocument/2006/relationships/image" Target="../media/image72.png"/><Relationship Id="rId39" Type="http://schemas.openxmlformats.org/officeDocument/2006/relationships/image" Target="../media/image73.png"/><Relationship Id="rId40" Type="http://schemas.openxmlformats.org/officeDocument/2006/relationships/image" Target="../media/image74.png"/><Relationship Id="rId41" Type="http://schemas.openxmlformats.org/officeDocument/2006/relationships/image" Target="../media/image75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79.png"/><Relationship Id="rId46" Type="http://schemas.openxmlformats.org/officeDocument/2006/relationships/image" Target="../media/image80.png"/><Relationship Id="rId47" Type="http://schemas.openxmlformats.org/officeDocument/2006/relationships/image" Target="../media/image81.png"/><Relationship Id="rId48" Type="http://schemas.openxmlformats.org/officeDocument/2006/relationships/image" Target="../media/image82.png"/><Relationship Id="rId49" Type="http://schemas.openxmlformats.org/officeDocument/2006/relationships/image" Target="../media/image83.png"/><Relationship Id="rId50" Type="http://schemas.openxmlformats.org/officeDocument/2006/relationships/image" Target="../media/image84.png"/><Relationship Id="rId51" Type="http://schemas.openxmlformats.org/officeDocument/2006/relationships/image" Target="../media/image85.png"/><Relationship Id="rId52" Type="http://schemas.openxmlformats.org/officeDocument/2006/relationships/image" Target="../media/image86.png"/><Relationship Id="rId53" Type="http://schemas.openxmlformats.org/officeDocument/2006/relationships/image" Target="../media/image87.png"/><Relationship Id="rId54" Type="http://schemas.openxmlformats.org/officeDocument/2006/relationships/image" Target="../media/image88.png"/><Relationship Id="rId55" Type="http://schemas.openxmlformats.org/officeDocument/2006/relationships/image" Target="../media/image89.png"/><Relationship Id="rId56" Type="http://schemas.openxmlformats.org/officeDocument/2006/relationships/image" Target="../media/image90.png"/><Relationship Id="rId57" Type="http://schemas.openxmlformats.org/officeDocument/2006/relationships/image" Target="../media/image91.png"/><Relationship Id="rId58" Type="http://schemas.openxmlformats.org/officeDocument/2006/relationships/image" Target="../media/image92.png"/><Relationship Id="rId59" Type="http://schemas.openxmlformats.org/officeDocument/2006/relationships/image" Target="../media/image93.png"/><Relationship Id="rId60" Type="http://schemas.openxmlformats.org/officeDocument/2006/relationships/image" Target="../media/image94.png"/><Relationship Id="rId61" Type="http://schemas.openxmlformats.org/officeDocument/2006/relationships/image" Target="../media/image95.png"/><Relationship Id="rId62" Type="http://schemas.openxmlformats.org/officeDocument/2006/relationships/image" Target="../media/image96.png"/><Relationship Id="rId63" Type="http://schemas.openxmlformats.org/officeDocument/2006/relationships/image" Target="../media/image97.png"/><Relationship Id="rId64" Type="http://schemas.openxmlformats.org/officeDocument/2006/relationships/image" Target="../media/image98.png"/><Relationship Id="rId65" Type="http://schemas.openxmlformats.org/officeDocument/2006/relationships/image" Target="../media/image99.png"/><Relationship Id="rId66" Type="http://schemas.openxmlformats.org/officeDocument/2006/relationships/image" Target="../media/image100.png"/><Relationship Id="rId67" Type="http://schemas.openxmlformats.org/officeDocument/2006/relationships/image" Target="../media/image10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114.png"/><Relationship Id="rId15" Type="http://schemas.openxmlformats.org/officeDocument/2006/relationships/image" Target="../media/image115.png"/><Relationship Id="rId16" Type="http://schemas.openxmlformats.org/officeDocument/2006/relationships/image" Target="../media/image116.png"/><Relationship Id="rId17" Type="http://schemas.openxmlformats.org/officeDocument/2006/relationships/image" Target="../media/image117.png"/><Relationship Id="rId18" Type="http://schemas.openxmlformats.org/officeDocument/2006/relationships/image" Target="../media/image118.png"/><Relationship Id="rId19" Type="http://schemas.openxmlformats.org/officeDocument/2006/relationships/image" Target="../media/image119.png"/><Relationship Id="rId20" Type="http://schemas.openxmlformats.org/officeDocument/2006/relationships/image" Target="../media/image120.png"/><Relationship Id="rId21" Type="http://schemas.openxmlformats.org/officeDocument/2006/relationships/image" Target="../media/image121.png"/><Relationship Id="rId22" Type="http://schemas.openxmlformats.org/officeDocument/2006/relationships/image" Target="../media/image122.png"/><Relationship Id="rId23" Type="http://schemas.openxmlformats.org/officeDocument/2006/relationships/image" Target="../media/image123.png"/><Relationship Id="rId24" Type="http://schemas.openxmlformats.org/officeDocument/2006/relationships/image" Target="../media/image124.png"/><Relationship Id="rId25" Type="http://schemas.openxmlformats.org/officeDocument/2006/relationships/image" Target="../media/image125.png"/><Relationship Id="rId26" Type="http://schemas.openxmlformats.org/officeDocument/2006/relationships/image" Target="../media/image126.png"/><Relationship Id="rId27" Type="http://schemas.openxmlformats.org/officeDocument/2006/relationships/image" Target="../media/image1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Relationship Id="rId14" Type="http://schemas.openxmlformats.org/officeDocument/2006/relationships/image" Target="../media/image140.png"/><Relationship Id="rId15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50.png"/><Relationship Id="rId12" Type="http://schemas.openxmlformats.org/officeDocument/2006/relationships/image" Target="../media/image151.png"/><Relationship Id="rId13" Type="http://schemas.openxmlformats.org/officeDocument/2006/relationships/image" Target="../media/image152.png"/><Relationship Id="rId14" Type="http://schemas.openxmlformats.org/officeDocument/2006/relationships/image" Target="../media/image153.png"/><Relationship Id="rId15" Type="http://schemas.openxmlformats.org/officeDocument/2006/relationships/image" Target="../media/image154.png"/><Relationship Id="rId16" Type="http://schemas.openxmlformats.org/officeDocument/2006/relationships/image" Target="../media/image155.png"/><Relationship Id="rId17" Type="http://schemas.openxmlformats.org/officeDocument/2006/relationships/image" Target="../media/image156.png"/><Relationship Id="rId18" Type="http://schemas.openxmlformats.org/officeDocument/2006/relationships/image" Target="../media/image157.png"/><Relationship Id="rId19" Type="http://schemas.openxmlformats.org/officeDocument/2006/relationships/image" Target="../media/image158.png"/><Relationship Id="rId20" Type="http://schemas.openxmlformats.org/officeDocument/2006/relationships/image" Target="../media/image159.png"/><Relationship Id="rId21" Type="http://schemas.openxmlformats.org/officeDocument/2006/relationships/image" Target="../media/image160.png"/><Relationship Id="rId22" Type="http://schemas.openxmlformats.org/officeDocument/2006/relationships/image" Target="../media/image161.png"/><Relationship Id="rId23" Type="http://schemas.openxmlformats.org/officeDocument/2006/relationships/image" Target="../media/image162.png"/><Relationship Id="rId24" Type="http://schemas.openxmlformats.org/officeDocument/2006/relationships/image" Target="../media/image163.png"/><Relationship Id="rId25" Type="http://schemas.openxmlformats.org/officeDocument/2006/relationships/image" Target="../media/image164.png"/><Relationship Id="rId26" Type="http://schemas.openxmlformats.org/officeDocument/2006/relationships/image" Target="../media/image165.png"/><Relationship Id="rId27" Type="http://schemas.openxmlformats.org/officeDocument/2006/relationships/image" Target="../media/image166.png"/><Relationship Id="rId28" Type="http://schemas.openxmlformats.org/officeDocument/2006/relationships/image" Target="../media/image167.png"/><Relationship Id="rId29" Type="http://schemas.openxmlformats.org/officeDocument/2006/relationships/image" Target="../media/image168.png"/><Relationship Id="rId30" Type="http://schemas.openxmlformats.org/officeDocument/2006/relationships/image" Target="../media/image169.png"/><Relationship Id="rId31" Type="http://schemas.openxmlformats.org/officeDocument/2006/relationships/image" Target="../media/image170.png"/><Relationship Id="rId32" Type="http://schemas.openxmlformats.org/officeDocument/2006/relationships/image" Target="../media/image17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78.png"/><Relationship Id="rId9" Type="http://schemas.openxmlformats.org/officeDocument/2006/relationships/image" Target="../media/image179.png"/><Relationship Id="rId10" Type="http://schemas.openxmlformats.org/officeDocument/2006/relationships/image" Target="../media/image180.png"/><Relationship Id="rId11" Type="http://schemas.openxmlformats.org/officeDocument/2006/relationships/image" Target="../media/image181.png"/><Relationship Id="rId12" Type="http://schemas.openxmlformats.org/officeDocument/2006/relationships/image" Target="../media/image182.png"/><Relationship Id="rId13" Type="http://schemas.openxmlformats.org/officeDocument/2006/relationships/image" Target="../media/image183.png"/><Relationship Id="rId14" Type="http://schemas.openxmlformats.org/officeDocument/2006/relationships/image" Target="../media/image184.png"/><Relationship Id="rId15" Type="http://schemas.openxmlformats.org/officeDocument/2006/relationships/image" Target="../media/image185.png"/><Relationship Id="rId16" Type="http://schemas.openxmlformats.org/officeDocument/2006/relationships/image" Target="../media/image186.png"/><Relationship Id="rId17" Type="http://schemas.openxmlformats.org/officeDocument/2006/relationships/image" Target="../media/image187.png"/><Relationship Id="rId18" Type="http://schemas.openxmlformats.org/officeDocument/2006/relationships/image" Target="../media/image188.png"/><Relationship Id="rId19" Type="http://schemas.openxmlformats.org/officeDocument/2006/relationships/image" Target="../media/image189.png"/><Relationship Id="rId20" Type="http://schemas.openxmlformats.org/officeDocument/2006/relationships/image" Target="../media/image190.png"/><Relationship Id="rId21" Type="http://schemas.openxmlformats.org/officeDocument/2006/relationships/image" Target="../media/image191.png"/><Relationship Id="rId22" Type="http://schemas.openxmlformats.org/officeDocument/2006/relationships/image" Target="../media/image192.png"/><Relationship Id="rId23" Type="http://schemas.openxmlformats.org/officeDocument/2006/relationships/image" Target="../media/image193.png"/><Relationship Id="rId24" Type="http://schemas.openxmlformats.org/officeDocument/2006/relationships/image" Target="../media/image194.png"/><Relationship Id="rId25" Type="http://schemas.openxmlformats.org/officeDocument/2006/relationships/image" Target="../media/image195.png"/><Relationship Id="rId26" Type="http://schemas.openxmlformats.org/officeDocument/2006/relationships/image" Target="../media/image196.png"/><Relationship Id="rId27" Type="http://schemas.openxmlformats.org/officeDocument/2006/relationships/image" Target="../media/image197.png"/><Relationship Id="rId28" Type="http://schemas.openxmlformats.org/officeDocument/2006/relationships/image" Target="../media/image198.png"/><Relationship Id="rId29" Type="http://schemas.openxmlformats.org/officeDocument/2006/relationships/image" Target="../media/image199.png"/><Relationship Id="rId30" Type="http://schemas.openxmlformats.org/officeDocument/2006/relationships/image" Target="../media/image200.png"/><Relationship Id="rId31" Type="http://schemas.openxmlformats.org/officeDocument/2006/relationships/image" Target="../media/image201.png"/><Relationship Id="rId32" Type="http://schemas.openxmlformats.org/officeDocument/2006/relationships/image" Target="../media/image202.png"/><Relationship Id="rId33" Type="http://schemas.openxmlformats.org/officeDocument/2006/relationships/image" Target="../media/image203.png"/><Relationship Id="rId34" Type="http://schemas.openxmlformats.org/officeDocument/2006/relationships/image" Target="../media/image204.png"/><Relationship Id="rId35" Type="http://schemas.openxmlformats.org/officeDocument/2006/relationships/image" Target="../media/image205.png"/><Relationship Id="rId36" Type="http://schemas.openxmlformats.org/officeDocument/2006/relationships/image" Target="../media/image206.png"/><Relationship Id="rId37" Type="http://schemas.openxmlformats.org/officeDocument/2006/relationships/image" Target="../media/image207.png"/><Relationship Id="rId38" Type="http://schemas.openxmlformats.org/officeDocument/2006/relationships/image" Target="../media/image208.png"/><Relationship Id="rId39" Type="http://schemas.openxmlformats.org/officeDocument/2006/relationships/image" Target="../media/image209.png"/><Relationship Id="rId40" Type="http://schemas.openxmlformats.org/officeDocument/2006/relationships/image" Target="../media/image210.png"/><Relationship Id="rId41" Type="http://schemas.openxmlformats.org/officeDocument/2006/relationships/image" Target="../media/image211.png"/><Relationship Id="rId42" Type="http://schemas.openxmlformats.org/officeDocument/2006/relationships/image" Target="../media/image212.png"/><Relationship Id="rId43" Type="http://schemas.openxmlformats.org/officeDocument/2006/relationships/image" Target="../media/image213.png"/><Relationship Id="rId44" Type="http://schemas.openxmlformats.org/officeDocument/2006/relationships/image" Target="../media/image2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Relationship Id="rId7" Type="http://schemas.openxmlformats.org/officeDocument/2006/relationships/image" Target="../media/image220.png"/><Relationship Id="rId8" Type="http://schemas.openxmlformats.org/officeDocument/2006/relationships/image" Target="../media/image221.png"/><Relationship Id="rId9" Type="http://schemas.openxmlformats.org/officeDocument/2006/relationships/image" Target="../media/image222.png"/><Relationship Id="rId10" Type="http://schemas.openxmlformats.org/officeDocument/2006/relationships/image" Target="../media/image223.png"/><Relationship Id="rId11" Type="http://schemas.openxmlformats.org/officeDocument/2006/relationships/image" Target="../media/image224.png"/><Relationship Id="rId12" Type="http://schemas.openxmlformats.org/officeDocument/2006/relationships/image" Target="../media/image225.png"/><Relationship Id="rId13" Type="http://schemas.openxmlformats.org/officeDocument/2006/relationships/image" Target="../media/image226.png"/><Relationship Id="rId14" Type="http://schemas.openxmlformats.org/officeDocument/2006/relationships/image" Target="../media/image227.png"/><Relationship Id="rId15" Type="http://schemas.openxmlformats.org/officeDocument/2006/relationships/image" Target="../media/image228.png"/><Relationship Id="rId16" Type="http://schemas.openxmlformats.org/officeDocument/2006/relationships/image" Target="../media/image229.png"/><Relationship Id="rId17" Type="http://schemas.openxmlformats.org/officeDocument/2006/relationships/image" Target="../media/image230.png"/><Relationship Id="rId18" Type="http://schemas.openxmlformats.org/officeDocument/2006/relationships/image" Target="../media/image231.png"/><Relationship Id="rId19" Type="http://schemas.openxmlformats.org/officeDocument/2006/relationships/image" Target="../media/image232.png"/><Relationship Id="rId20" Type="http://schemas.openxmlformats.org/officeDocument/2006/relationships/image" Target="../media/image233.png"/><Relationship Id="rId21" Type="http://schemas.openxmlformats.org/officeDocument/2006/relationships/image" Target="../media/image234.png"/><Relationship Id="rId22" Type="http://schemas.openxmlformats.org/officeDocument/2006/relationships/image" Target="../media/image235.png"/><Relationship Id="rId23" Type="http://schemas.openxmlformats.org/officeDocument/2006/relationships/image" Target="../media/image236.png"/><Relationship Id="rId24" Type="http://schemas.openxmlformats.org/officeDocument/2006/relationships/image" Target="../media/image237.png"/><Relationship Id="rId25" Type="http://schemas.openxmlformats.org/officeDocument/2006/relationships/image" Target="../media/image238.png"/><Relationship Id="rId26" Type="http://schemas.openxmlformats.org/officeDocument/2006/relationships/image" Target="../media/image239.png"/><Relationship Id="rId27" Type="http://schemas.openxmlformats.org/officeDocument/2006/relationships/image" Target="../media/image240.png"/><Relationship Id="rId28" Type="http://schemas.openxmlformats.org/officeDocument/2006/relationships/image" Target="../media/image241.png"/><Relationship Id="rId29" Type="http://schemas.openxmlformats.org/officeDocument/2006/relationships/image" Target="../media/image242.png"/><Relationship Id="rId30" Type="http://schemas.openxmlformats.org/officeDocument/2006/relationships/image" Target="../media/image243.png"/><Relationship Id="rId31" Type="http://schemas.openxmlformats.org/officeDocument/2006/relationships/image" Target="../media/image244.png"/><Relationship Id="rId32" Type="http://schemas.openxmlformats.org/officeDocument/2006/relationships/image" Target="../media/image245.png"/><Relationship Id="rId33" Type="http://schemas.openxmlformats.org/officeDocument/2006/relationships/image" Target="../media/image246.png"/><Relationship Id="rId34" Type="http://schemas.openxmlformats.org/officeDocument/2006/relationships/image" Target="../media/image247.png"/><Relationship Id="rId35" Type="http://schemas.openxmlformats.org/officeDocument/2006/relationships/image" Target="../media/image2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Relationship Id="rId4" Type="http://schemas.openxmlformats.org/officeDocument/2006/relationships/image" Target="../media/image251.png"/><Relationship Id="rId5" Type="http://schemas.openxmlformats.org/officeDocument/2006/relationships/image" Target="../media/image252.png"/><Relationship Id="rId6" Type="http://schemas.openxmlformats.org/officeDocument/2006/relationships/image" Target="../media/image253.png"/><Relationship Id="rId7" Type="http://schemas.openxmlformats.org/officeDocument/2006/relationships/image" Target="../media/image254.png"/><Relationship Id="rId8" Type="http://schemas.openxmlformats.org/officeDocument/2006/relationships/image" Target="../media/image255.png"/><Relationship Id="rId9" Type="http://schemas.openxmlformats.org/officeDocument/2006/relationships/image" Target="../media/image256.png"/><Relationship Id="rId10" Type="http://schemas.openxmlformats.org/officeDocument/2006/relationships/image" Target="../media/image257.png"/><Relationship Id="rId11" Type="http://schemas.openxmlformats.org/officeDocument/2006/relationships/image" Target="../media/image258.png"/><Relationship Id="rId12" Type="http://schemas.openxmlformats.org/officeDocument/2006/relationships/image" Target="../media/image259.png"/><Relationship Id="rId13" Type="http://schemas.openxmlformats.org/officeDocument/2006/relationships/image" Target="../media/image260.png"/><Relationship Id="rId14" Type="http://schemas.openxmlformats.org/officeDocument/2006/relationships/image" Target="../media/image261.png"/><Relationship Id="rId15" Type="http://schemas.openxmlformats.org/officeDocument/2006/relationships/image" Target="../media/image262.png"/><Relationship Id="rId16" Type="http://schemas.openxmlformats.org/officeDocument/2006/relationships/image" Target="../media/image263.png"/><Relationship Id="rId17" Type="http://schemas.openxmlformats.org/officeDocument/2006/relationships/image" Target="../media/image264.png"/><Relationship Id="rId18" Type="http://schemas.openxmlformats.org/officeDocument/2006/relationships/image" Target="../media/image265.png"/><Relationship Id="rId19" Type="http://schemas.openxmlformats.org/officeDocument/2006/relationships/image" Target="../media/image266.png"/><Relationship Id="rId20" Type="http://schemas.openxmlformats.org/officeDocument/2006/relationships/image" Target="../media/image267.png"/><Relationship Id="rId21" Type="http://schemas.openxmlformats.org/officeDocument/2006/relationships/image" Target="../media/image268.png"/><Relationship Id="rId22" Type="http://schemas.openxmlformats.org/officeDocument/2006/relationships/image" Target="../media/image269.png"/><Relationship Id="rId23" Type="http://schemas.openxmlformats.org/officeDocument/2006/relationships/image" Target="../media/image270.png"/><Relationship Id="rId24" Type="http://schemas.openxmlformats.org/officeDocument/2006/relationships/chart" Target="../charts/chart2.xml"/><Relationship Id="rId25" Type="http://schemas.openxmlformats.org/officeDocument/2006/relationships/image" Target="../media/image271.png"/><Relationship Id="rId26" Type="http://schemas.openxmlformats.org/officeDocument/2006/relationships/image" Target="../media/image272.png"/><Relationship Id="rId27" Type="http://schemas.openxmlformats.org/officeDocument/2006/relationships/image" Target="../media/image27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4095750"/>
            <a:ext cx="3333750" cy="2762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1735" y="0"/>
            <a:ext cx="1000125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1730722"/>
            <a:ext cx="762000" cy="38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750022"/>
            <a:ext cx="264795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146202"/>
            <a:ext cx="2790825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542383"/>
            <a:ext cx="2790825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228183"/>
            <a:ext cx="990600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00658" y="5228183"/>
            <a:ext cx="8667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3725" y="5228183"/>
            <a:ext cx="7429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195" y="3845272"/>
            <a:ext cx="13335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195" y="4241452"/>
            <a:ext cx="13335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6195" y="4637633"/>
            <a:ext cx="133350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1992659"/>
            <a:ext cx="1600497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ource Code Pro"/>
              </a:rPr>
              <a:t>SPANISH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392709"/>
            <a:ext cx="1143297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C55E"/>
                </a:solidFill>
                <a:effectLst>
                  <a:outerShdw blurRad="190500" dist="0" dir="0" algn="ctr" rotWithShape="0">
                    <a:srgbClr val="22C55E">
                      <a:alpha val="40000"/>
                    </a:srgbClr>
                  </a:outerShdw>
                </a:effectLst>
                <a:latin typeface="Source Code Pro"/>
              </a:rPr>
              <a:t>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792759"/>
            <a:ext cx="1371897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ource Code Pro"/>
              </a:rPr>
              <a:t>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845" y="3835747"/>
            <a:ext cx="2237212" cy="1426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2C55E"/>
                </a:solidFill>
                <a:latin typeface="Source Code Pro"/>
              </a:rPr>
              <a:t>L1</a:t>
            </a:r>
            <a:r>
              <a:rPr sz="936" b="0" i="0">
                <a:solidFill>
                  <a:srgbClr val="E2E8F0"/>
                </a:solidFill>
                <a:latin typeface="Source Code Pro"/>
              </a:rPr>
              <a:t> Greetings &amp; Polite Phrases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845" y="4231927"/>
            <a:ext cx="2384067" cy="1426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2C55E"/>
                </a:solidFill>
                <a:latin typeface="Source Code Pro"/>
              </a:rPr>
              <a:t>L2</a:t>
            </a:r>
            <a:r>
              <a:rPr sz="936" b="0" i="0">
                <a:solidFill>
                  <a:srgbClr val="E2E8F0"/>
                </a:solidFill>
                <a:latin typeface="Source Code Pro"/>
              </a:rPr>
              <a:t> Verb Ser &amp; Personal Pronouns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845" y="4628108"/>
            <a:ext cx="2384067" cy="1426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2C55E"/>
                </a:solidFill>
                <a:latin typeface="Source Code Pro"/>
              </a:rPr>
              <a:t>L3</a:t>
            </a:r>
            <a:r>
              <a:rPr sz="936" b="0" i="0">
                <a:solidFill>
                  <a:srgbClr val="E2E8F0"/>
                </a:solidFill>
                <a:latin typeface="Source Code Pro"/>
              </a:rPr>
              <a:t> Numbers, Colors &amp; Adjectives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685" y="5283398"/>
            <a:ext cx="76750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2C55E"/>
                </a:solidFill>
                <a:latin typeface="Source Code Pro"/>
              </a:rPr>
              <a:t>3 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6744" y="5283398"/>
            <a:ext cx="63951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2C55E"/>
                </a:solidFill>
                <a:latin typeface="Source Code Pro"/>
              </a:rPr>
              <a:t>QUIZ 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811" y="5283398"/>
            <a:ext cx="51167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2C55E"/>
                </a:solidFill>
                <a:latin typeface="Source Code Pro"/>
              </a:rPr>
              <a:t>1 HR/DAY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1405086"/>
            <a:ext cx="2925841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0D380"/>
                </a:solidFill>
                <a:latin typeface="Source Code Pro"/>
              </a:rPr>
              <a:t>&gt; </a:t>
            </a:r>
            <a:r>
              <a:rPr sz="960" b="0" i="0">
                <a:solidFill>
                  <a:srgbClr val="22C55E">
                    <a:alpha val="70000"/>
                  </a:srgbClr>
                </a:solidFill>
                <a:latin typeface="Source Code Pro"/>
              </a:rPr>
              <a:t>run study_sprint --lang=es --days=14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3273772"/>
            <a:ext cx="519112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2475" y="3273772"/>
            <a:ext cx="246935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C55E">
                    <a:alpha val="90000"/>
                  </a:srgbClr>
                </a:solidFill>
                <a:latin typeface="Source Code Pro"/>
              </a:rPr>
              <a:t>LESSONS 1–3  ·  14-DAY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6980" y="2300287"/>
            <a:ext cx="1480295" cy="1316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// </a:t>
            </a:r>
            <a:r>
              <a:rPr sz="864" b="0" i="0">
                <a:solidFill>
                  <a:srgbClr val="22C55E">
                    <a:alpha val="80000"/>
                  </a:srgbClr>
                </a:solidFill>
                <a:latin typeface="Source Code Pro"/>
              </a:rPr>
              <a:t>14-DAY SPRINT GRID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96980" y="2576512"/>
            <a:ext cx="666750" cy="5810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61894" y="273933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6EFAC"/>
                </a:solidFill>
                <a:latin typeface="Source Code Pro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4589" y="2901255"/>
            <a:ext cx="351978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Saludos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21326" y="2576512"/>
            <a:ext cx="666750" cy="5810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86389" y="273933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6EFAC"/>
                </a:solidFill>
                <a:latin typeface="Source Code Pro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3783" y="2901255"/>
            <a:ext cx="40228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Cortesía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45822" y="2576512"/>
            <a:ext cx="666750" cy="5810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10736" y="273933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6EFAC"/>
                </a:solidFill>
                <a:latin typeface="Source Code Pro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7975" y="2901255"/>
            <a:ext cx="502890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Despedidas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70168" y="2576512"/>
            <a:ext cx="666750" cy="5810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35231" y="273933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6EFAC"/>
                </a:solidFill>
                <a:latin typeface="Source Code Pro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473" y="2901255"/>
            <a:ext cx="452586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Review L1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53575" y="2438400"/>
            <a:ext cx="962025" cy="876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959578" y="2799308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C55E"/>
                </a:solidFill>
                <a:effectLst>
                  <a:outerShdw blurRad="76200" dist="0" dir="0" algn="ctr" rotWithShape="0">
                    <a:srgbClr val="22C55E">
                      <a:alpha val="60000"/>
                    </a:srgbClr>
                  </a:outerShdw>
                </a:effectLst>
                <a:latin typeface="Source Code Pro"/>
              </a:rPr>
              <a:t>05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88153" y="2679352"/>
            <a:ext cx="80069" cy="913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52273" y="2961233"/>
            <a:ext cx="351978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22C55E">
                    <a:alpha val="85000"/>
                  </a:srgbClr>
                </a:solidFill>
                <a:latin typeface="Source Code Pro"/>
              </a:rPr>
              <a:t>M1 Quiz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19010" y="2576512"/>
            <a:ext cx="666750" cy="58102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684073" y="273933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E7B7"/>
                </a:solidFill>
                <a:latin typeface="Source Code Pro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1467" y="2901255"/>
            <a:ext cx="40228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Verb Ser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43505" y="2576512"/>
            <a:ext cx="666750" cy="5810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408419" y="273933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E7B7"/>
                </a:solidFill>
                <a:latin typeface="Source Code Pro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25658" y="2901255"/>
            <a:ext cx="502890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Pronombres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96980" y="3221682"/>
            <a:ext cx="666750" cy="58102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061894" y="338450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E7B7"/>
                </a:solidFill>
                <a:latin typeface="Source Code Pro"/>
              </a:rP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3981" y="3546425"/>
            <a:ext cx="553194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Ser + Pron.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1326" y="3221682"/>
            <a:ext cx="666750" cy="5810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786389" y="338450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E7B7"/>
                </a:solidFill>
                <a:latin typeface="Source Code Pro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8632" y="3546425"/>
            <a:ext cx="452586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Review L2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05775" y="3086100"/>
            <a:ext cx="962025" cy="8763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510736" y="3444478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C55E"/>
                </a:solidFill>
                <a:effectLst>
                  <a:outerShdw blurRad="76200" dist="0" dir="0" algn="ctr" rotWithShape="0">
                    <a:srgbClr val="22C55E">
                      <a:alpha val="60000"/>
                    </a:srgbClr>
                  </a:outerShdw>
                </a:effectLst>
                <a:latin typeface="Source Code Pro"/>
              </a:rPr>
              <a:t>10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39311" y="3324522"/>
            <a:ext cx="80069" cy="913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378279" y="3606403"/>
            <a:ext cx="40228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22C55E">
                    <a:alpha val="85000"/>
                  </a:srgbClr>
                </a:solidFill>
                <a:latin typeface="Source Code Pro"/>
              </a:rPr>
              <a:t>M2 Check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70168" y="3221682"/>
            <a:ext cx="666750" cy="58102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235231" y="338450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DE80"/>
                </a:solidFill>
                <a:latin typeface="Source Code Pro"/>
              </a:rPr>
              <a:t>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7777" y="3546425"/>
            <a:ext cx="351978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Números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94664" y="3221682"/>
            <a:ext cx="666750" cy="58102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959578" y="338450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DE80"/>
                </a:solidFill>
                <a:latin typeface="Source Code Pro"/>
              </a:rP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52273" y="3546425"/>
            <a:ext cx="351978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Colores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419010" y="3221682"/>
            <a:ext cx="666750" cy="58102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684073" y="3384500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DE047"/>
                </a:solidFill>
                <a:latin typeface="Source Code Pro"/>
              </a:rPr>
              <a:t>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26315" y="3546425"/>
            <a:ext cx="452586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FDE047">
                    <a:alpha val="60000"/>
                  </a:srgbClr>
                </a:solidFill>
                <a:latin typeface="Source Code Pro"/>
              </a:rPr>
              <a:t>Quiz Prep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01375" y="3086100"/>
            <a:ext cx="962025" cy="8763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1408419" y="3444478"/>
            <a:ext cx="1372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C55E"/>
                </a:solidFill>
                <a:effectLst>
                  <a:outerShdw blurRad="76200" dist="0" dir="0" algn="ctr" rotWithShape="0">
                    <a:srgbClr val="22C55E">
                      <a:alpha val="60000"/>
                    </a:srgbClr>
                  </a:outerShdw>
                </a:effectLst>
                <a:latin typeface="Source Code Pro"/>
              </a:rPr>
              <a:t>14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425683" y="3324522"/>
            <a:ext cx="102840" cy="9138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1275962" y="3606403"/>
            <a:ext cx="40228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22C55E">
                    <a:alpha val="85000"/>
                  </a:srgbClr>
                </a:solidFill>
                <a:latin typeface="Source Code Pro"/>
              </a:rPr>
              <a:t>M3 Done!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96980" y="3866852"/>
            <a:ext cx="666750" cy="447675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096273" y="3960167"/>
            <a:ext cx="6860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DE80"/>
                </a:solidFill>
                <a:latin typeface="Source Code Pro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4285" y="4122092"/>
            <a:ext cx="452586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E2E8F0">
                    <a:alpha val="40000"/>
                  </a:srgbClr>
                </a:solidFill>
                <a:latin typeface="Source Code Pro"/>
              </a:rPr>
              <a:t>Adjetivos</a:t>
            </a: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796980" y="4467225"/>
            <a:ext cx="76200" cy="762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926460" y="4452937"/>
            <a:ext cx="45303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E2E8F0"/>
                </a:solidFill>
                <a:latin typeface="Source Code Pro"/>
              </a:rPr>
              <a:t>Lesson 1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31893" y="4467225"/>
            <a:ext cx="76200" cy="762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661374" y="4452937"/>
            <a:ext cx="45303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E2E8F0"/>
                </a:solidFill>
                <a:latin typeface="Source Code Pro"/>
              </a:rPr>
              <a:t>Lesson 2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66807" y="4467225"/>
            <a:ext cx="76200" cy="762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396287" y="4452937"/>
            <a:ext cx="45303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E2E8F0"/>
                </a:solidFill>
                <a:latin typeface="Source Code Pro"/>
              </a:rPr>
              <a:t>Lesson 3</a:t>
            </a:r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01720" y="4467225"/>
            <a:ext cx="76200" cy="762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131200" y="4452937"/>
            <a:ext cx="73625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E2E8F0"/>
                </a:solidFill>
                <a:latin typeface="Source Code Pro"/>
              </a:rPr>
              <a:t>Quiz / Review</a:t>
            </a:r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19853" y="4467225"/>
            <a:ext cx="76200" cy="762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0149333" y="4452937"/>
            <a:ext cx="50973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E2E8F0"/>
                </a:solidFill>
                <a:latin typeface="Source Code Pro"/>
              </a:rPr>
              <a:t>Milestone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99253" y="228600"/>
            <a:ext cx="118794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2C55E">
                    <a:alpha val="45000"/>
                  </a:srgbClr>
                </a:solidFill>
                <a:latin typeface="Source Code Pro"/>
              </a:rPr>
              <a:t>SPRINT_V1.0  ·  2026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0"/>
            <a:ext cx="4876800" cy="19050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6829425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00250"/>
            <a:ext cx="2095500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0" y="3905250"/>
            <a:ext cx="1809750" cy="2381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6192"/>
            <a:ext cx="32004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C55E"/>
                </a:solidFill>
                <a:effectLst>
                  <a:outerShdw blurRad="190500" dist="0" dir="0" algn="ctr" rotWithShape="0">
                    <a:srgbClr val="22C55E">
                      <a:alpha val="30000"/>
                    </a:srgbClr>
                  </a:outerShdw>
                </a:effectLst>
                <a:latin typeface="Source Code Pro"/>
              </a:rPr>
              <a:t>Sprint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2229"/>
            <a:ext cx="1438102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>
                    <a:alpha val="60000"/>
                  </a:srgbClr>
                </a:solidFill>
                <a:latin typeface="Source Code Pro"/>
              </a:rPr>
              <a:t>&gt; </a:t>
            </a:r>
            <a:r>
              <a:rPr sz="839" b="0" i="0">
                <a:solidFill>
                  <a:srgbClr val="22C55E">
                    <a:alpha val="80000"/>
                  </a:srgbClr>
                </a:solidFill>
                <a:latin typeface="Source Code Pro"/>
              </a:rPr>
              <a:t>14-DAY STUDY SPRINT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973335"/>
            <a:ext cx="571500" cy="19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958726"/>
            <a:ext cx="112776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5966" y="2073026"/>
            <a:ext cx="657225" cy="76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8464" y="2073026"/>
            <a:ext cx="657225" cy="76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1110" y="2073026"/>
            <a:ext cx="657225" cy="76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3607" y="2073026"/>
            <a:ext cx="657225" cy="76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6278" y="2073026"/>
            <a:ext cx="657225" cy="76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8775" y="2073026"/>
            <a:ext cx="657225" cy="76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1421" y="2073026"/>
            <a:ext cx="657225" cy="76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919" y="2073026"/>
            <a:ext cx="657225" cy="76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6441" y="2073026"/>
            <a:ext cx="657225" cy="76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38938" y="2073026"/>
            <a:ext cx="657225" cy="76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31435" y="2073026"/>
            <a:ext cx="657225" cy="76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23933" y="2073026"/>
            <a:ext cx="657225" cy="76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16430" y="2073026"/>
            <a:ext cx="657225" cy="76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08927" y="2073026"/>
            <a:ext cx="657225" cy="76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9125" y="2051690"/>
            <a:ext cx="534441" cy="1188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2C55E">
                    <a:alpha val="70000"/>
                  </a:srgbClr>
                </a:solidFill>
                <a:latin typeface="Source Code Pro"/>
              </a:rPr>
              <a:t>DAY TRACK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81450" y="1924050"/>
            <a:ext cx="361950" cy="3619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3250" y="1924050"/>
            <a:ext cx="361950" cy="3619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06175" y="1924050"/>
            <a:ext cx="361950" cy="3619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2454026"/>
            <a:ext cx="5562600" cy="14954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5775" y="2457450"/>
            <a:ext cx="5524500" cy="14859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416" y="2633067"/>
            <a:ext cx="61912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29200" y="2543175"/>
            <a:ext cx="876300" cy="3524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6275" y="3593901"/>
            <a:ext cx="819150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49747" y="3593901"/>
            <a:ext cx="647700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53406" y="3593901"/>
            <a:ext cx="533400" cy="1809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6616" y="2663076"/>
            <a:ext cx="475059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2A18"/>
                </a:solidFill>
                <a:latin typeface="Source Code Pro"/>
              </a:rPr>
              <a:t>DAYS 1–4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3506" y="2665862"/>
            <a:ext cx="548282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22C55E"/>
                </a:solidFill>
                <a:latin typeface="Source Code Pro"/>
              </a:rPr>
              <a:t>M1 · Day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275" y="2921394"/>
            <a:ext cx="3124795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22C55E"/>
                </a:solidFill>
                <a:latin typeface="Source Code Pro"/>
              </a:rPr>
              <a:t>Lesson 1: Greetings &amp; Polite Phrases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670" y="3628589"/>
            <a:ext cx="679400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Hola / Adiós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0142" y="3628589"/>
            <a:ext cx="509587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Por favor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3802" y="3628589"/>
            <a:ext cx="396329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Gracias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275" y="2631132"/>
            <a:ext cx="182760" cy="1829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275" y="3156793"/>
            <a:ext cx="5034539" cy="348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Master essential greetings, farewells, and courtesy expressions to</a:t>
            </a: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 start every conversation confidently.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172200" y="2454026"/>
            <a:ext cx="5562600" cy="14954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00775" y="2457450"/>
            <a:ext cx="5524500" cy="14859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711106" y="2633067"/>
            <a:ext cx="619125" cy="1714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687050" y="2543175"/>
            <a:ext cx="933450" cy="3524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91275" y="3593901"/>
            <a:ext cx="819150" cy="1809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64747" y="3593901"/>
            <a:ext cx="704850" cy="1809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25110" y="3593901"/>
            <a:ext cx="819150" cy="1809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87306" y="2663076"/>
            <a:ext cx="475059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2A18"/>
                </a:solidFill>
                <a:latin typeface="Source Code Pro"/>
              </a:rPr>
              <a:t>DAYS 5–8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53588" y="2665862"/>
            <a:ext cx="603200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50D380"/>
                </a:solidFill>
                <a:latin typeface="Source Code Pro"/>
              </a:rPr>
              <a:t>M2 · Day 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275" y="2921394"/>
            <a:ext cx="3298328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50D380"/>
                </a:solidFill>
                <a:latin typeface="Source Code Pro"/>
              </a:rPr>
              <a:t>Lesson 2: Verb Ser &amp; Personal Pronouns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1670" y="3628589"/>
            <a:ext cx="679400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Yo / Tú / Él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5142" y="3628589"/>
            <a:ext cx="566291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Soy / Eres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5505" y="3628589"/>
            <a:ext cx="679400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Ser vs Estar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391275" y="2631132"/>
            <a:ext cx="228451" cy="18290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391275" y="3156793"/>
            <a:ext cx="4733165" cy="348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Learn the verb "ser" conjugations and all personal pronouns to</a:t>
            </a: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 describe identity and origin clearly.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7200" y="4106167"/>
            <a:ext cx="5562600" cy="149542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85775" y="4105275"/>
            <a:ext cx="5524500" cy="14859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50416" y="4285208"/>
            <a:ext cx="685800" cy="1714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972050" y="4191000"/>
            <a:ext cx="933450" cy="352425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76275" y="5246042"/>
            <a:ext cx="819150" cy="18097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49747" y="5246042"/>
            <a:ext cx="533400" cy="180975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140148" y="5246042"/>
            <a:ext cx="704850" cy="18097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26616" y="4315217"/>
            <a:ext cx="534441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2A18"/>
                </a:solidFill>
                <a:latin typeface="Source Code Pro"/>
              </a:rPr>
              <a:t>DAYS 9–12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38588" y="4318003"/>
            <a:ext cx="603200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86EFAC"/>
                </a:solidFill>
                <a:latin typeface="Source Code Pro"/>
              </a:rPr>
              <a:t>M3 · Day 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275" y="4573535"/>
            <a:ext cx="3298328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86EFAC"/>
                </a:solidFill>
                <a:latin typeface="Source Code Pro"/>
              </a:rPr>
              <a:t>Lesson 3: Numbers, Colors &amp; Adjectives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6670" y="5280730"/>
            <a:ext cx="679400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0–20 Numbers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20142" y="5280730"/>
            <a:ext cx="396329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Colores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10544" y="5280730"/>
            <a:ext cx="566291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Adjectives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76275" y="4283273"/>
            <a:ext cx="182760" cy="18290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76275" y="4808934"/>
            <a:ext cx="4883852" cy="348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Build descriptive vocabulary with numbers 0–20, color names, and</a:t>
            </a: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 adjective agreement rules in Spanish.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72200" y="4106167"/>
            <a:ext cx="5562600" cy="1495425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200775" y="4105275"/>
            <a:ext cx="5524500" cy="14859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642645" y="4285208"/>
            <a:ext cx="742950" cy="17145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439400" y="4162425"/>
            <a:ext cx="1209675" cy="409575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391275" y="5246042"/>
            <a:ext cx="819150" cy="180975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264747" y="5246042"/>
            <a:ext cx="762000" cy="180975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081664" y="5246042"/>
            <a:ext cx="704850" cy="180975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718845" y="4315217"/>
            <a:ext cx="593824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2A18"/>
                </a:solidFill>
                <a:latin typeface="Source Code Pro"/>
              </a:rPr>
              <a:t>DAYS 13–14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34364" y="4318003"/>
            <a:ext cx="822424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4ADE80"/>
                </a:solidFill>
                <a:latin typeface="Source Code Pro"/>
              </a:rPr>
              <a:t>SPRINT COMPLETE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91275" y="4573535"/>
            <a:ext cx="2430363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4ADE80"/>
                </a:solidFill>
                <a:latin typeface="Source Code Pro"/>
              </a:rPr>
              <a:t>Quiz &amp; Review: Consolidation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61670" y="5280730"/>
            <a:ext cx="679400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12 Questions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5142" y="5280730"/>
            <a:ext cx="622845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All Lessons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2060" y="5280730"/>
            <a:ext cx="566291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50D380"/>
                </a:solidFill>
                <a:latin typeface="Source Code Pro"/>
              </a:rPr>
              <a:t>Gap Review</a:t>
            </a:r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391275" y="4283273"/>
            <a:ext cx="159990" cy="18290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391275" y="4808934"/>
            <a:ext cx="5260493" cy="348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12-question quiz covering all 3 lessons, followed by gap analysis and</a:t>
            </a:r>
            <a:r>
              <a:rPr sz="960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 targeted review of weak areas.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6582232"/>
            <a:ext cx="2321272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22C55E">
                    <a:alpha val="40000"/>
                  </a:srgbClr>
                </a:solidFill>
                <a:latin typeface="Source Code Pro"/>
              </a:rPr>
              <a:t>// sprint_roadmap.md · 4 phases · 14 days</a:t>
            </a: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733484" y="6610350"/>
            <a:ext cx="57150" cy="5715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772775" y="6534150"/>
            <a:ext cx="209550" cy="20955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969525" y="6610350"/>
            <a:ext cx="57150" cy="57150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1087546" y="6610350"/>
            <a:ext cx="57150" cy="57150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1205567" y="6610350"/>
            <a:ext cx="57150" cy="57150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1323587" y="6610350"/>
            <a:ext cx="57150" cy="57150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1441608" y="6610350"/>
            <a:ext cx="57150" cy="57150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559629" y="6610350"/>
            <a:ext cx="57150" cy="57150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1677650" y="6610350"/>
            <a:ext cx="5715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7145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0" y="5715000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971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5739" y="552301"/>
            <a:ext cx="1409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614" y="638026"/>
            <a:ext cx="111472" cy="991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85750"/>
            <a:ext cx="6399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2C55E"/>
                </a:solidFill>
                <a:latin typeface="Source Code Pro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696" y="285750"/>
            <a:ext cx="121503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/>
                </a:solidFill>
                <a:latin typeface="Source Code Pro"/>
              </a:rPr>
              <a:t>LESSON 1 · DAYS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82887"/>
            <a:ext cx="5055295" cy="335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2E8F0"/>
                </a:solidFill>
                <a:latin typeface="Source Code Pro"/>
              </a:rPr>
              <a:t>Greetings &amp; </a:t>
            </a:r>
            <a:r>
              <a:rPr sz="2400" b="1" i="0">
                <a:solidFill>
                  <a:srgbClr val="22C55E"/>
                </a:solidFill>
                <a:latin typeface="Source Code Pro"/>
              </a:rPr>
              <a:t>Polite Phrases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7237" y="618976"/>
            <a:ext cx="96038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C55E"/>
                </a:solidFill>
                <a:latin typeface="Source Code Pro"/>
              </a:rPr>
              <a:t>SPRINT BLOCK 1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750" y="4419600"/>
            <a:ext cx="11620500" cy="1543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2417" y="5016996"/>
            <a:ext cx="95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8194" y="5016996"/>
            <a:ext cx="95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55365" y="4923234"/>
            <a:ext cx="100979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2C55E"/>
                </a:solidFill>
                <a:latin typeface="Source Code Pro"/>
              </a:rPr>
              <a:t>PRONUNCIATION TIP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5365" y="5119538"/>
            <a:ext cx="4629018" cy="3241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2E8F0"/>
                </a:solidFill>
                <a:latin typeface="Source Code Pro"/>
              </a:rPr>
              <a:t>Single </a:t>
            </a:r>
            <a:r>
              <a:rPr sz="1019" b="1" i="0">
                <a:solidFill>
                  <a:srgbClr val="22C55E"/>
                </a:solidFill>
                <a:latin typeface="Source Code Pro"/>
              </a:rPr>
              <a:t>R</a:t>
            </a:r>
            <a:r>
              <a:rPr sz="1019" b="0" i="0">
                <a:solidFill>
                  <a:srgbClr val="E2E8F0"/>
                </a:solidFill>
                <a:latin typeface="Source Code Pro"/>
              </a:rPr>
              <a:t> vs Double </a:t>
            </a:r>
            <a:r>
              <a:rPr sz="1019" b="1" i="0">
                <a:solidFill>
                  <a:srgbClr val="22C55E"/>
                </a:solidFill>
                <a:latin typeface="Source Code Pro"/>
              </a:rPr>
              <a:t>RR</a:t>
            </a:r>
            <a:r>
              <a:rPr sz="1019" b="0" i="0">
                <a:solidFill>
                  <a:srgbClr val="E2E8F0"/>
                </a:solidFill>
                <a:latin typeface="Source Code Pro"/>
              </a:rPr>
              <a:t> — a critical distinction in Spanish</a:t>
            </a:r>
            <a:r>
              <a:rPr sz="1019" b="0" i="0">
                <a:solidFill>
                  <a:srgbClr val="E2E8F0"/>
                </a:solidFill>
                <a:latin typeface="Source Code Pro"/>
              </a:rPr>
              <a:t> pronunciation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0542" y="4926210"/>
            <a:ext cx="2379848" cy="1874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50D380"/>
                </a:solidFill>
                <a:latin typeface="Source Code Pro"/>
              </a:rPr>
              <a:t>pero</a:t>
            </a:r>
            <a:r>
              <a:rPr sz="984" b="0" i="0">
                <a:solidFill>
                  <a:srgbClr val="94A3B8"/>
                </a:solidFill>
                <a:latin typeface="Source Code Pro"/>
              </a:rPr>
              <a:t> = "but"  ·  soft single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0542" y="5113734"/>
            <a:ext cx="2457108" cy="3303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50D380"/>
                </a:solidFill>
                <a:latin typeface="Source Code Pro"/>
              </a:rPr>
              <a:t>perro</a:t>
            </a:r>
            <a:r>
              <a:rPr sz="984" b="0" i="0">
                <a:solidFill>
                  <a:srgbClr val="94A3B8"/>
                </a:solidFill>
                <a:latin typeface="Source Code Pro"/>
              </a:rPr>
              <a:t> = "dog"  ·  rolled double</a:t>
            </a:r>
            <a:r>
              <a:rPr sz="984" b="0" i="0">
                <a:solidFill>
                  <a:srgbClr val="94A3B8"/>
                </a:solidFill>
                <a:latin typeface="Source Code Pro"/>
              </a:rPr>
              <a:t> 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6319" y="4864596"/>
            <a:ext cx="147191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Practice rolling the</a:t>
            </a:r>
            <a:r>
              <a:rPr sz="900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 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6319" y="5207496"/>
            <a:ext cx="147191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sound daily from Day</a:t>
            </a:r>
            <a:r>
              <a:rPr sz="900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 1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2583805"/>
            <a:ext cx="9906000" cy="190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" y="2466975"/>
            <a:ext cx="101346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775" y="5056882"/>
            <a:ext cx="159990" cy="21341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3975" y="1990725"/>
            <a:ext cx="1181100" cy="11811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" y="3537644"/>
            <a:ext cx="2495550" cy="895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3527" y="2461914"/>
            <a:ext cx="243780" cy="2437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85032" y="3117205"/>
            <a:ext cx="46077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SALUDOS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4107" y="3329285"/>
            <a:ext cx="96262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DAY 1 · GREETINGS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7930" y="3661469"/>
            <a:ext cx="133073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Hola</a:t>
            </a:r>
            <a:r>
              <a:rPr sz="900" b="0" i="0">
                <a:solidFill>
                  <a:srgbClr val="94A3B8"/>
                </a:solidFill>
                <a:latin typeface="Source Code Pro"/>
              </a:rPr>
              <a:t> · </a:t>
            </a:r>
            <a:r>
              <a:rPr sz="900" b="1" i="0">
                <a:solidFill>
                  <a:srgbClr val="E2E8F0"/>
                </a:solidFill>
                <a:latin typeface="Source Code Pro"/>
              </a:rPr>
              <a:t>Buenos días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9528" y="3832919"/>
            <a:ext cx="89177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Buenas tardes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9528" y="4004369"/>
            <a:ext cx="89177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Buenas noches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904" y="4194869"/>
            <a:ext cx="192702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4 core greetings by time of day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14800" y="1990725"/>
            <a:ext cx="1181100" cy="11811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53854" y="3537644"/>
            <a:ext cx="2495550" cy="7239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50122" y="2461914"/>
            <a:ext cx="304800" cy="2437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07532" y="3117205"/>
            <a:ext cx="78997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¿CÓMO ESTÁS?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4508" y="3329285"/>
            <a:ext cx="1075878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DAY 2 · HOW ARE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2194" y="3661469"/>
            <a:ext cx="1542587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¿Cómo estás?</a:t>
            </a:r>
            <a:r>
              <a:rPr sz="900" b="0" i="0">
                <a:solidFill>
                  <a:srgbClr val="94A3B8"/>
                </a:solidFill>
                <a:latin typeface="Source Code Pro"/>
              </a:rPr>
              <a:t> informal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5034" y="3832919"/>
            <a:ext cx="1330736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¿Cómo está?</a:t>
            </a:r>
            <a:r>
              <a:rPr sz="900" b="0" i="0">
                <a:solidFill>
                  <a:srgbClr val="94A3B8"/>
                </a:solidFill>
                <a:latin typeface="Source Code Pro"/>
              </a:rPr>
              <a:t> formal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45693" y="4023419"/>
            <a:ext cx="2113508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3 ways to ask + 6 common responses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6100" y="1990725"/>
            <a:ext cx="1181100" cy="11811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0809" y="3537644"/>
            <a:ext cx="2495550" cy="895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52258" y="2461914"/>
            <a:ext cx="274290" cy="2437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26051" y="3117205"/>
            <a:ext cx="52670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CORTESÍA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6483" y="3329285"/>
            <a:ext cx="124584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DAY 3 · POLITE PHRASES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7759" y="3661469"/>
            <a:ext cx="140140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Por favor</a:t>
            </a:r>
            <a:r>
              <a:rPr sz="900" b="0" i="0">
                <a:solidFill>
                  <a:srgbClr val="94A3B8"/>
                </a:solidFill>
                <a:latin typeface="Source Code Pro"/>
              </a:rPr>
              <a:t> · </a:t>
            </a:r>
            <a:r>
              <a:rPr sz="900" b="1" i="0">
                <a:solidFill>
                  <a:srgbClr val="E2E8F0"/>
                </a:solidFill>
                <a:latin typeface="Source Code Pro"/>
              </a:rPr>
              <a:t>Gracias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0599" y="3832919"/>
            <a:ext cx="1189553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De nada</a:t>
            </a:r>
            <a:r>
              <a:rPr sz="900" b="0" i="0">
                <a:solidFill>
                  <a:srgbClr val="94A3B8"/>
                </a:solidFill>
                <a:latin typeface="Source Code Pro"/>
              </a:rPr>
              <a:t> · </a:t>
            </a:r>
            <a:r>
              <a:rPr sz="900" b="1" i="0">
                <a:solidFill>
                  <a:srgbClr val="E2E8F0"/>
                </a:solidFill>
                <a:latin typeface="Source Code Pro"/>
              </a:rPr>
              <a:t>Perdón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0808" y="4004369"/>
            <a:ext cx="61733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Lo siento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19130" y="4194869"/>
            <a:ext cx="1740544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8 essential courtesy phrases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86925" y="1990725"/>
            <a:ext cx="1181100" cy="11811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27914" y="3537644"/>
            <a:ext cx="2495550" cy="8953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85052" y="2461914"/>
            <a:ext cx="182909" cy="2437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47374" y="3117205"/>
            <a:ext cx="6582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/>
                </a:solidFill>
                <a:latin typeface="Source Code Pro"/>
              </a:rPr>
              <a:t>DESPEDIDAS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95271" y="3329285"/>
            <a:ext cx="96262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DAY 4 · FAREWELLS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24863" y="3661469"/>
            <a:ext cx="1401404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Adiós</a:t>
            </a:r>
            <a:r>
              <a:rPr sz="900" b="0" i="0">
                <a:solidFill>
                  <a:srgbClr val="94A3B8"/>
                </a:solidFill>
                <a:latin typeface="Source Code Pro"/>
              </a:rPr>
              <a:t> · </a:t>
            </a:r>
            <a:r>
              <a:rPr sz="900" b="1" i="0">
                <a:solidFill>
                  <a:srgbClr val="E2E8F0"/>
                </a:solidFill>
                <a:latin typeface="Source Code Pro"/>
              </a:rPr>
              <a:t>Hasta luego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4923" y="3832919"/>
            <a:ext cx="82316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Hasta mañana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7912" y="4004369"/>
            <a:ext cx="61733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2E8F0"/>
                </a:solidFill>
                <a:latin typeface="Source Code Pro"/>
              </a:rPr>
              <a:t>Nos vemos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92716" y="4194869"/>
            <a:ext cx="136758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94A3B8">
                    <a:alpha val="70000"/>
                  </a:srgbClr>
                </a:solidFill>
                <a:latin typeface="Source Code Pro"/>
              </a:rPr>
              <a:t>4 farewell expressions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247650"/>
            <a:ext cx="6858000" cy="523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501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C55E"/>
                </a:solidFill>
                <a:latin typeface="Source Code Pro"/>
              </a:rPr>
              <a:t>Lesson 1: Key Vocabulary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962025"/>
            <a:ext cx="421198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94A3B8"/>
                </a:solidFill>
                <a:latin typeface="Source Code Pro"/>
              </a:rPr>
              <a:t>// QUICK-REFERENCE CARD — GREETINGS · POLITE PHRASES · FAREWELLS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08335"/>
            <a:ext cx="7086600" cy="541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95" y="1642467"/>
            <a:ext cx="98970" cy="9911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95" y="3294310"/>
            <a:ext cx="123825" cy="991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595" y="5087987"/>
            <a:ext cx="111472" cy="9911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0525" y="1217860"/>
          <a:ext cx="7067548" cy="564013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807"/>
                <a:gridCol w="1696194"/>
                <a:gridCol w="1413420"/>
                <a:gridCol w="2403127"/>
              </a:tblGrid>
              <a:tr h="3525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1" i="0">
                          <a:solidFill>
                            <a:srgbClr val="0F2A18"/>
                          </a:solidFill>
                          <a:latin typeface="Source Code Pro"/>
                        </a:rPr>
                        <a:t>Spanish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1" i="0">
                          <a:solidFill>
                            <a:srgbClr val="0F2A18"/>
                          </a:solidFill>
                          <a:latin typeface="Source Code Pro"/>
                        </a:rPr>
                        <a:t>Pronunciation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1" i="0">
                          <a:solidFill>
                            <a:srgbClr val="0F2A18"/>
                          </a:solidFill>
                          <a:latin typeface="Source Code Pro"/>
                        </a:rPr>
                        <a:t>English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1" i="0">
                          <a:solidFill>
                            <a:srgbClr val="0F2A18"/>
                          </a:solidFill>
                          <a:latin typeface="Source Code Pro"/>
                        </a:rPr>
                        <a:t>Usage Note</a:t>
                      </a:r>
                    </a:p>
                  </a:txBody>
                  <a:tcPr anchor="ctr">
                    <a:solidFill>
                      <a:srgbClr val="22C55E"/>
                    </a:solidFill>
                  </a:tcPr>
                </a:tc>
              </a:tr>
              <a:tr h="352508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39" b="1" i="0">
                          <a:solidFill>
                            <a:srgbClr val="E2E8F0"/>
                          </a:solidFill>
                          <a:latin typeface="Source Code Pro"/>
                        </a:rPr>
                        <a:t>Greetings</a:t>
                      </a:r>
                    </a:p>
                  </a:txBody>
                  <a:tcPr anchor="ctr">
                    <a:solidFill>
                      <a:srgbClr val="113C20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Hola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OH-lah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Hello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Universal, any time of day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Microsoft YaHei"/>
                        </a:rPr>
                        <a:t>Buenos días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BWEH-nos DEE-as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Good morning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Use until noon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Buenas tardes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BWEH-nas TAR-des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Good afternoon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Noon until sunset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Buenas noches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BWEH-nas NOH-ches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Good night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Evening greeting or farewell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39" b="1" i="0">
                          <a:solidFill>
                            <a:srgbClr val="E2E8F0"/>
                          </a:solidFill>
                          <a:latin typeface="Source Code Pro"/>
                        </a:rPr>
                        <a:t>Polite Phrases</a:t>
                      </a:r>
                    </a:p>
                  </a:txBody>
                  <a:tcPr anchor="ctr">
                    <a:solidFill>
                      <a:srgbClr val="113C20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Por favor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por fah-VOR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Please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Requests and politeness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Gracias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GRAH-see-as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Thank you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Most common expression of thanks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De nada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deh NAH-dah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You're welcome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Response to Gracias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Lo siento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loh SYEHN-toh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I'm sorry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Apology or sympathy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39" b="1" i="0">
                          <a:solidFill>
                            <a:srgbClr val="E2E8F0"/>
                          </a:solidFill>
                          <a:latin typeface="Source Code Pro"/>
                        </a:rPr>
                        <a:t>Farewells</a:t>
                      </a:r>
                    </a:p>
                  </a:txBody>
                  <a:tcPr anchor="ctr">
                    <a:solidFill>
                      <a:srgbClr val="113C20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Microsoft YaHei"/>
                        </a:rPr>
                        <a:t>Adiós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ah-DYOS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Goodbye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Formal or final farewell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Hasta luego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AHS-tah LWEH-go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See you later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Casual, implies you'll meet again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Microsoft YaHei"/>
                        </a:rPr>
                        <a:t>Hasta mañana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AHS-tah mah-NYAH-nah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See you tomorrow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When parting until next day</a:t>
                      </a:r>
                    </a:p>
                  </a:txBody>
                  <a:tcPr anchor="ctr">
                    <a:solidFill>
                      <a:srgbClr val="0C2016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  <a:tr h="352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6" b="1" i="0">
                          <a:solidFill>
                            <a:srgbClr val="E2E8F0"/>
                          </a:solidFill>
                          <a:latin typeface="Source Code Pro"/>
                        </a:rPr>
                        <a:t>Nos vemos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36" b="0" i="1">
                          <a:solidFill>
                            <a:srgbClr val="E2E8F0"/>
                          </a:solidFill>
                          <a:latin typeface="Source Code Pro"/>
                        </a:rPr>
                        <a:t>nos VEH-mos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0" i="0">
                          <a:solidFill>
                            <a:srgbClr val="E2E8F0"/>
                          </a:solidFill>
                          <a:latin typeface="Source Code Pro"/>
                        </a:rPr>
                        <a:t>See you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E2E8F0"/>
                          </a:solidFill>
                          <a:latin typeface="Source Code Pro"/>
                        </a:rPr>
                        <a:t>Informal, friendly farewell</a:t>
                      </a:r>
                    </a:p>
                  </a:txBody>
                  <a:tcPr anchor="ctr">
                    <a:solidFill>
                      <a:srgbClr val="0F2A18"/>
                    </a:solidFill>
                    <a:lnB w="9525" cmpd="sng">
                      <a:solidFill>
                        <a:srgbClr val="7FFFFF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6200" y="1727299"/>
            <a:ext cx="4000500" cy="3105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25" y="4145607"/>
            <a:ext cx="9525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25" y="4363342"/>
            <a:ext cx="9525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8125" y="4581078"/>
            <a:ext cx="95250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6200" y="4949130"/>
            <a:ext cx="4000500" cy="904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4255" y="5076676"/>
            <a:ext cx="102840" cy="913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72401" y="1898749"/>
            <a:ext cx="14479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// PHRASE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9575" y="4130129"/>
            <a:ext cx="59248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E2E8F0"/>
                </a:solidFill>
                <a:latin typeface="Source Code Pro"/>
              </a:rPr>
              <a:t>Greetings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8844" y="4130129"/>
            <a:ext cx="6593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9575" y="4347864"/>
            <a:ext cx="92154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E2E8F0"/>
                </a:solidFill>
                <a:latin typeface="Source Code Pro"/>
              </a:rPr>
              <a:t>Polite Phrases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8844" y="4347864"/>
            <a:ext cx="6593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9575" y="4565600"/>
            <a:ext cx="59248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E2E8F0"/>
                </a:solidFill>
                <a:latin typeface="Source Code Pro"/>
              </a:rPr>
              <a:t>Farewells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8844" y="4565600"/>
            <a:ext cx="6593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2785" y="5067151"/>
            <a:ext cx="50973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22C55E"/>
                </a:solidFill>
                <a:latin typeface="Source Code Pro"/>
              </a:rPr>
              <a:t>STUDY TIP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255" y="5254525"/>
            <a:ext cx="3837039" cy="46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876" b="0" i="0">
                <a:solidFill>
                  <a:srgbClr val="94A3B8"/>
                </a:solidFill>
                <a:latin typeface="Source Code Pro"/>
              </a:rPr>
              <a:t>Master </a:t>
            </a:r>
            <a:r>
              <a:rPr sz="876" b="1" i="0">
                <a:solidFill>
                  <a:srgbClr val="50D380"/>
                </a:solidFill>
                <a:latin typeface="Source Code Pro"/>
              </a:rPr>
              <a:t>Hola</a:t>
            </a:r>
            <a:r>
              <a:rPr sz="876" b="0" i="0">
                <a:solidFill>
                  <a:srgbClr val="94A3B8"/>
                </a:solidFill>
                <a:latin typeface="Source Code Pro"/>
              </a:rPr>
              <a:t> and </a:t>
            </a:r>
            <a:r>
              <a:rPr sz="876" b="1" i="0">
                <a:solidFill>
                  <a:srgbClr val="50D380"/>
                </a:solidFill>
                <a:latin typeface="Source Code Pro"/>
              </a:rPr>
              <a:t>Gracias</a:t>
            </a:r>
            <a:r>
              <a:rPr sz="876" b="0" i="0">
                <a:solidFill>
                  <a:srgbClr val="94A3B8"/>
                </a:solidFill>
                <a:latin typeface="Source Code Pro"/>
              </a:rPr>
              <a:t> first — they cover 80% of daily</a:t>
            </a:r>
            <a:r>
              <a:rPr sz="876" b="0" i="0">
                <a:solidFill>
                  <a:srgbClr val="94A3B8"/>
                </a:solidFill>
                <a:latin typeface="Source Code Pro"/>
              </a:rPr>
              <a:t> interactions. Practice greetings by time of day to</a:t>
            </a:r>
            <a:r>
              <a:rPr sz="876" b="0" i="0">
                <a:solidFill>
                  <a:srgbClr val="94A3B8"/>
                </a:solidFill>
                <a:latin typeface="Source Code Pro"/>
              </a:rPr>
              <a:t> build natural habit.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4152" y="386655"/>
            <a:ext cx="1200150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27977" y="434280"/>
            <a:ext cx="95919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>
                    <a:alpha val="70000"/>
                  </a:srgbClr>
                </a:solidFill>
                <a:latin typeface="Source Code Pro"/>
              </a:rPr>
              <a:t>16 CORE PHRASES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743950" y="2129879"/>
          <a:ext cx="1905000" cy="1905000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550151" y="2889096"/>
            <a:ext cx="29259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E2E8F0"/>
                </a:solidFill>
                <a:latin typeface="Source Code Pro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4461" y="3145184"/>
            <a:ext cx="383976" cy="1049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94A3B8"/>
                </a:solidFill>
                <a:latin typeface="Source Code Pro"/>
              </a:rPr>
              <a:t>PHRASES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185737"/>
            <a:ext cx="9441773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$</a:t>
            </a:r>
            <a:r>
              <a:rPr sz="3000" b="1" i="0">
                <a:solidFill>
                  <a:srgbClr val="22C55E"/>
                </a:solidFill>
                <a:latin typeface="Source Code Pro"/>
              </a:rPr>
              <a:t> Lesson 2: Verb </a:t>
            </a:r>
            <a:r>
              <a:rPr sz="3000" b="1" i="1">
                <a:solidFill>
                  <a:srgbClr val="22C55E"/>
                </a:solidFill>
                <a:latin typeface="Source Code Pro"/>
              </a:rPr>
              <a:t>Ser</a:t>
            </a:r>
            <a:r>
              <a:rPr sz="3000" b="1" i="0">
                <a:solidFill>
                  <a:srgbClr val="22C55E"/>
                </a:solidFill>
                <a:latin typeface="Source Code Pro"/>
              </a:rPr>
              <a:t> &amp; Personal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39960"/>
            <a:ext cx="4351883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94A3B8"/>
                </a:solidFill>
                <a:latin typeface="Source Code Pro"/>
              </a:rPr>
              <a:t>// Days 5–8  ·  Present tense conjugation &amp; pronoun mapping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76907"/>
            <a:ext cx="5334000" cy="5686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986432"/>
            <a:ext cx="5314950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405806"/>
            <a:ext cx="501015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2817465"/>
            <a:ext cx="501015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439" y="2893814"/>
            <a:ext cx="5905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3229123"/>
            <a:ext cx="501015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9250" y="3305472"/>
            <a:ext cx="4762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3640782"/>
            <a:ext cx="501015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925" y="4338042"/>
            <a:ext cx="501015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925" y="4749700"/>
            <a:ext cx="501015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5656" y="4826049"/>
            <a:ext cx="4191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" y="5161359"/>
            <a:ext cx="501015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5656" y="5237708"/>
            <a:ext cx="4191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925" y="5573017"/>
            <a:ext cx="501015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1025" y="1125289"/>
            <a:ext cx="139898" cy="1599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7123" y="1094928"/>
            <a:ext cx="163041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F2A18"/>
                </a:solidFill>
                <a:latin typeface="Source Code Pro"/>
              </a:rPr>
              <a:t>Personal Pronouns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2165895"/>
            <a:ext cx="62091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// SINGULAR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483792"/>
            <a:ext cx="16505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Yo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5525" y="2488257"/>
            <a:ext cx="7128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895451"/>
            <a:ext cx="16505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Tú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5525" y="2899916"/>
            <a:ext cx="21356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6834" y="2918519"/>
            <a:ext cx="45154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1" i="0">
                <a:solidFill>
                  <a:srgbClr val="94A3B8"/>
                </a:solidFill>
                <a:latin typeface="Source Code Pro"/>
              </a:rPr>
              <a:t>informal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07109"/>
            <a:ext cx="41255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Usted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95525" y="3311574"/>
            <a:ext cx="21356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646" y="3330178"/>
            <a:ext cx="33873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1" i="0">
                <a:solidFill>
                  <a:srgbClr val="50D380"/>
                </a:solidFill>
                <a:latin typeface="Source Code Pro"/>
              </a:rPr>
              <a:t>formal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718768"/>
            <a:ext cx="742652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Él / Ella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5525" y="3723233"/>
            <a:ext cx="56941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He / She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25" y="4098131"/>
            <a:ext cx="5079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// PLURAL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16028"/>
            <a:ext cx="907702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Nosotros/as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95525" y="4420492"/>
            <a:ext cx="14242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We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27686"/>
            <a:ext cx="907702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Vosotros/as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95525" y="4832151"/>
            <a:ext cx="64055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You (pl.)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6052" y="4850755"/>
            <a:ext cx="28232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1" i="0">
                <a:solidFill>
                  <a:srgbClr val="86EFAC"/>
                </a:solidFill>
                <a:latin typeface="Source Code Pro"/>
              </a:rPr>
              <a:t>Spain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239345"/>
            <a:ext cx="57760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Ustedes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95525" y="5243810"/>
            <a:ext cx="64055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You (pl.)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6052" y="5262413"/>
            <a:ext cx="28232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1" i="0">
                <a:solidFill>
                  <a:srgbClr val="86EFAC"/>
                </a:solidFill>
                <a:latin typeface="Source Code Pro"/>
              </a:rPr>
              <a:t>LatAm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651003"/>
            <a:ext cx="107275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22C55E"/>
                </a:solidFill>
                <a:latin typeface="Source Code Pro"/>
              </a:rPr>
              <a:t>Ellos / Ellas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95525" y="5655468"/>
            <a:ext cx="28470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They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976907"/>
            <a:ext cx="5334000" cy="56864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86525" y="986432"/>
            <a:ext cx="5314950" cy="4286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38925" y="2120503"/>
            <a:ext cx="5010150" cy="3333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38925" y="2523232"/>
            <a:ext cx="5010150" cy="3333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38925" y="2925960"/>
            <a:ext cx="5010150" cy="3333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38925" y="3328689"/>
            <a:ext cx="5010150" cy="3333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38925" y="3731418"/>
            <a:ext cx="5010150" cy="3333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38925" y="4134147"/>
            <a:ext cx="5010150" cy="3333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38925" y="4613076"/>
            <a:ext cx="5010150" cy="523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38925" y="5277891"/>
            <a:ext cx="5010150" cy="9144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77025" y="1125289"/>
            <a:ext cx="179933" cy="15999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933158" y="1094928"/>
            <a:ext cx="2014091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F2A18"/>
                </a:solidFill>
                <a:latin typeface="Source Code Pro"/>
              </a:rPr>
              <a:t>Ser — To Be (Present)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3225" y="1880592"/>
            <a:ext cx="79012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741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// CONJUGATION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1800" y="2198489"/>
            <a:ext cx="14242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Yo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0996" y="2194024"/>
            <a:ext cx="24765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50D380"/>
                </a:solidFill>
                <a:latin typeface="Source Code Pro"/>
              </a:rPr>
              <a:t>soy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1800" y="2601217"/>
            <a:ext cx="14242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Tú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0996" y="2596753"/>
            <a:ext cx="33010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50D380"/>
                </a:solidFill>
                <a:latin typeface="Source Code Pro"/>
              </a:rPr>
              <a:t>eres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1800" y="3003946"/>
            <a:ext cx="106754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Él / Ella / Ud.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10996" y="2999482"/>
            <a:ext cx="16505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50D380"/>
                </a:solidFill>
                <a:latin typeface="Source Code Pro"/>
              </a:rPr>
              <a:t>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81800" y="3406675"/>
            <a:ext cx="78298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Nosotros/as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0996" y="3402210"/>
            <a:ext cx="41255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50D380"/>
                </a:solidFill>
                <a:latin typeface="Source Code Pro"/>
              </a:rPr>
              <a:t>somos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1800" y="3809404"/>
            <a:ext cx="78298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Vosotros/as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10996" y="3804939"/>
            <a:ext cx="33010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50D380"/>
                </a:solidFill>
                <a:latin typeface="Source Code Pro"/>
              </a:rPr>
              <a:t>sois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1800" y="4212133"/>
            <a:ext cx="85412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34" b="0" i="0">
                <a:solidFill>
                  <a:srgbClr val="94A3B8"/>
                </a:solidFill>
                <a:latin typeface="Source Code Pro"/>
              </a:rPr>
              <a:t>Ellos / Uds.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10996" y="4207668"/>
            <a:ext cx="24765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24"/>
              </a:lnSpc>
              <a:spcBef>
                <a:spcPts val="0"/>
              </a:spcBef>
              <a:spcAft>
                <a:spcPts val="0"/>
              </a:spcAft>
            </a:pPr>
            <a:r>
              <a:rPr sz="1083" b="1" i="0">
                <a:solidFill>
                  <a:srgbClr val="50D380"/>
                </a:solidFill>
                <a:latin typeface="Source Code Pro"/>
              </a:rPr>
              <a:t>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2750" y="4706391"/>
            <a:ext cx="212496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22C55E"/>
                </a:solidFill>
                <a:latin typeface="Source Code Pro"/>
              </a:rPr>
              <a:t>// DOCTOR mnemonic — when to use Ser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2750" y="4899868"/>
            <a:ext cx="719519" cy="1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50D380"/>
                </a:solidFill>
                <a:latin typeface="Source Code Pro"/>
              </a:rPr>
              <a:t>D</a:t>
            </a:r>
            <a:r>
              <a:rPr sz="775" b="0" i="0">
                <a:solidFill>
                  <a:srgbClr val="94A3B8"/>
                </a:solidFill>
                <a:latin typeface="Source Code Pro"/>
              </a:rPr>
              <a:t> escription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7777" y="4899868"/>
            <a:ext cx="5908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0" i="0">
                <a:solidFill>
                  <a:srgbClr val="94A3B8"/>
                </a:solidFill>
                <a:latin typeface="Source Code Pro"/>
              </a:rPr>
              <a:t>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62552" y="4899868"/>
            <a:ext cx="658815" cy="1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50D380"/>
                </a:solidFill>
                <a:latin typeface="Source Code Pro"/>
              </a:rPr>
              <a:t>O</a:t>
            </a:r>
            <a:r>
              <a:rPr sz="775" b="0" i="0">
                <a:solidFill>
                  <a:srgbClr val="94A3B8"/>
                </a:solidFill>
                <a:latin typeface="Source Code Pro"/>
              </a:rPr>
              <a:t> ccupation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8643" y="4899868"/>
            <a:ext cx="5908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0" i="0">
                <a:solidFill>
                  <a:srgbClr val="94A3B8"/>
                </a:solidFill>
                <a:latin typeface="Source Code Pro"/>
              </a:rPr>
              <a:t>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03418" y="4899868"/>
            <a:ext cx="901937" cy="1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50D380"/>
                </a:solidFill>
                <a:latin typeface="Source Code Pro"/>
              </a:rPr>
              <a:t>C</a:t>
            </a:r>
            <a:r>
              <a:rPr sz="775" b="0" i="0">
                <a:solidFill>
                  <a:srgbClr val="94A3B8"/>
                </a:solidFill>
                <a:latin typeface="Source Code Pro"/>
              </a:rPr>
              <a:t> haracteristic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75551" y="4899868"/>
            <a:ext cx="5908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0" i="0">
                <a:solidFill>
                  <a:srgbClr val="94A3B8"/>
                </a:solidFill>
                <a:latin typeface="Source Code Pro"/>
              </a:rPr>
              <a:t>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0326" y="4899868"/>
            <a:ext cx="293977" cy="1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50D380"/>
                </a:solidFill>
                <a:latin typeface="Source Code Pro"/>
              </a:rPr>
              <a:t>T</a:t>
            </a:r>
            <a:r>
              <a:rPr sz="775" b="0" i="0">
                <a:solidFill>
                  <a:srgbClr val="94A3B8"/>
                </a:solidFill>
                <a:latin typeface="Source Code Pro"/>
              </a:rPr>
              <a:t> ime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62207" y="4899868"/>
            <a:ext cx="5908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0" i="0">
                <a:solidFill>
                  <a:srgbClr val="94A3B8"/>
                </a:solidFill>
                <a:latin typeface="Source Code Pro"/>
              </a:rPr>
              <a:t>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66982" y="4899868"/>
            <a:ext cx="415539" cy="1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50D380"/>
                </a:solidFill>
                <a:latin typeface="Source Code Pro"/>
              </a:rPr>
              <a:t>O</a:t>
            </a:r>
            <a:r>
              <a:rPr sz="775" b="0" i="0">
                <a:solidFill>
                  <a:srgbClr val="94A3B8"/>
                </a:solidFill>
                <a:latin typeface="Source Code Pro"/>
              </a:rPr>
              <a:t> rigin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66883" y="4899868"/>
            <a:ext cx="5908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0" i="0">
                <a:solidFill>
                  <a:srgbClr val="94A3B8"/>
                </a:solidFill>
                <a:latin typeface="Source Code Pro"/>
              </a:rPr>
              <a:t>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71658" y="4899868"/>
            <a:ext cx="537253" cy="1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50D380"/>
                </a:solidFill>
                <a:latin typeface="Source Code Pro"/>
              </a:rPr>
              <a:t>R</a:t>
            </a:r>
            <a:r>
              <a:rPr sz="775" b="0" i="0">
                <a:solidFill>
                  <a:srgbClr val="94A3B8"/>
                </a:solidFill>
                <a:latin typeface="Source Code Pro"/>
              </a:rPr>
              <a:t> elation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2750" y="5371207"/>
            <a:ext cx="165273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22C55E"/>
                </a:solidFill>
                <a:latin typeface="Source Code Pro"/>
              </a:rPr>
              <a:t>// self-introduction phrases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2750" y="5574208"/>
            <a:ext cx="1866617" cy="162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50D380"/>
                </a:solidFill>
                <a:latin typeface="Source Code Pro"/>
              </a:rPr>
              <a:t>Yo soy [Name]</a:t>
            </a:r>
            <a:r>
              <a:rPr sz="855" b="0" i="0">
                <a:solidFill>
                  <a:srgbClr val="94A3B8"/>
                </a:solidFill>
                <a:latin typeface="Source Code Pro"/>
              </a:rPr>
              <a:t>— I am [Name]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2750" y="5764559"/>
            <a:ext cx="2402989" cy="162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50D380"/>
                </a:solidFill>
                <a:latin typeface="Source Code Pro"/>
              </a:rPr>
              <a:t>Me llamo [Name]</a:t>
            </a:r>
            <a:r>
              <a:rPr sz="855" b="0" i="0">
                <a:solidFill>
                  <a:srgbClr val="94A3B8"/>
                </a:solidFill>
                <a:latin typeface="Source Code Pro"/>
              </a:rPr>
              <a:t>— My name is [Name]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2750" y="5954910"/>
            <a:ext cx="3006504" cy="1628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50D380"/>
                </a:solidFill>
                <a:latin typeface="Source Code Pro"/>
              </a:rPr>
              <a:t>Mucho gusto / Encantado/a</a:t>
            </a:r>
            <a:r>
              <a:rPr sz="855" b="0" i="0">
                <a:solidFill>
                  <a:srgbClr val="94A3B8"/>
                </a:solidFill>
                <a:latin typeface="Source Code Pro"/>
              </a:rPr>
              <a:t>— Nice to meet you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40341" y="2209502"/>
            <a:ext cx="112514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1">
                <a:solidFill>
                  <a:srgbClr val="94A3B8"/>
                </a:solidFill>
                <a:latin typeface="Source Code Pro"/>
              </a:rPr>
              <a:t>Yo soy estudiante.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40341" y="2612231"/>
            <a:ext cx="93761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1">
                <a:solidFill>
                  <a:srgbClr val="94A3B8"/>
                </a:solidFill>
                <a:latin typeface="Source Code Pro"/>
              </a:rPr>
              <a:t>Tú eres amable.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40341" y="3014960"/>
            <a:ext cx="93761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1">
                <a:solidFill>
                  <a:srgbClr val="94A3B8"/>
                </a:solidFill>
                <a:latin typeface="Source Code Pro"/>
              </a:rPr>
              <a:t>Ella es médica.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40341" y="3417689"/>
            <a:ext cx="8126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1">
                <a:solidFill>
                  <a:srgbClr val="94A3B8"/>
                </a:solidFill>
                <a:latin typeface="Source Code Pro"/>
              </a:rPr>
              <a:t>Somos amigos.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0341" y="3820417"/>
            <a:ext cx="150018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1">
                <a:solidFill>
                  <a:srgbClr val="94A3B8"/>
                </a:solidFill>
                <a:latin typeface="Source Code Pro"/>
              </a:rPr>
              <a:t>Vosotros sois de España.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0341" y="4223146"/>
            <a:ext cx="131266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20" b="0" i="1">
                <a:solidFill>
                  <a:srgbClr val="94A3B8"/>
                </a:solidFill>
                <a:latin typeface="Source Code Pro"/>
              </a:rPr>
              <a:t>Ellos son profesores.</a:t>
            </a: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02684" y="3715494"/>
            <a:ext cx="186630" cy="213419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81000" y="6591746"/>
            <a:ext cx="261104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22C55E">
                    <a:alpha val="25000"/>
                  </a:srgbClr>
                </a:solidFill>
                <a:latin typeface="Source Code Pro"/>
              </a:rPr>
              <a:t>lesson_02.md · verb_ser · pronouns · DOCTOR</a:t>
            </a: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286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0" y="4762500"/>
            <a:ext cx="2095500" cy="209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45864"/>
            <a:ext cx="1781175" cy="238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49387"/>
            <a:ext cx="571500" cy="19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695" y="319980"/>
            <a:ext cx="102840" cy="913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9406" y="285750"/>
            <a:ext cx="140672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/>
                </a:solidFill>
                <a:latin typeface="Source Code Pro"/>
              </a:rPr>
              <a:t>DAYS 9–12  ·  LESSON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9324"/>
            <a:ext cx="6789039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C55E"/>
                </a:solidFill>
                <a:latin typeface="Source Code Pro"/>
              </a:rPr>
              <a:t>Numbers, Colors </a:t>
            </a:r>
            <a:r>
              <a:rPr sz="3000" b="0" i="0">
                <a:solidFill>
                  <a:srgbClr val="22C55E">
                    <a:alpha val="55000"/>
                  </a:srgbClr>
                </a:solidFill>
                <a:latin typeface="Source Code Pro"/>
              </a:rPr>
              <a:t>&amp;</a:t>
            </a:r>
            <a:r>
              <a:rPr sz="3000" b="1" i="0">
                <a:solidFill>
                  <a:srgbClr val="22C55E"/>
                </a:solidFill>
                <a:latin typeface="Source Code Pro"/>
              </a:rPr>
              <a:t> Adjectives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183903"/>
            <a:ext cx="5562600" cy="1828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2361009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5365" y="3038772"/>
            <a:ext cx="12001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0135" y="3038772"/>
            <a:ext cx="13335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6469" y="3038772"/>
            <a:ext cx="542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3121" y="3038772"/>
            <a:ext cx="10763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99" y="2486620"/>
            <a:ext cx="153292" cy="1753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55365" y="2370534"/>
            <a:ext cx="177016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C55E"/>
                </a:solidFill>
                <a:latin typeface="Source Code Pro"/>
              </a:rPr>
              <a:t>NUMBERS 0–20 (NÚMEROS)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5365" y="2626816"/>
            <a:ext cx="4695185" cy="3241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21 core number words from cero to veinte. Memorize in groups</a:t>
            </a: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 of five for faster recall during daily practice sessions.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351" y="3073003"/>
            <a:ext cx="105310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cero · uno · 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8121" y="3073003"/>
            <a:ext cx="118467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diez · once · doce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4455" y="3073003"/>
            <a:ext cx="39498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veinte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107" y="3073003"/>
            <a:ext cx="92139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E2E8F0">
                    <a:alpha val="55000"/>
                  </a:srgbClr>
                </a:solidFill>
                <a:latin typeface="Source Code Pro"/>
              </a:rPr>
              <a:t>21 total words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5775" y="2200275"/>
            <a:ext cx="5524500" cy="95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2183903"/>
            <a:ext cx="5562600" cy="1828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1275" y="2361009"/>
            <a:ext cx="419100" cy="4191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70365" y="3038772"/>
            <a:ext cx="87630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96076" y="3038772"/>
            <a:ext cx="1400175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48192" y="3038772"/>
            <a:ext cx="114300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0365" y="3298328"/>
            <a:ext cx="1400175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70365" y="3573065"/>
            <a:ext cx="4562475" cy="2571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7034" y="2486620"/>
            <a:ext cx="175170" cy="17531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70365" y="2370534"/>
            <a:ext cx="128736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C55E"/>
                </a:solidFill>
                <a:latin typeface="Source Code Pro"/>
              </a:rPr>
              <a:t>COLORS (COLORES)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0365" y="2626816"/>
            <a:ext cx="4386607" cy="3241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8 essential colors with gender-change rules. Most colors</a:t>
            </a: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 change ending: </a:t>
            </a:r>
            <a:r>
              <a:rPr sz="984" b="1" i="0">
                <a:solidFill>
                  <a:srgbClr val="22C55E"/>
                </a:solidFill>
                <a:latin typeface="Source Code Pro"/>
              </a:rPr>
              <a:t>-o </a:t>
            </a:r>
            <a:r>
              <a:rPr sz="984" b="1" i="0">
                <a:solidFill>
                  <a:srgbClr val="22C55E"/>
                </a:solidFill>
                <a:latin typeface="Cambria Math"/>
              </a:rPr>
              <a:t>→ </a:t>
            </a:r>
            <a:r>
              <a:rPr sz="984" b="1" i="0">
                <a:solidFill>
                  <a:srgbClr val="22C55E"/>
                </a:solidFill>
                <a:latin typeface="Source Code Pro"/>
              </a:rPr>
              <a:t>-a</a:t>
            </a: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 for feminine nouns.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351" y="3073003"/>
            <a:ext cx="7240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rojo / roja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4062" y="3073003"/>
            <a:ext cx="125045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amarillo / amarilla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6178" y="3073003"/>
            <a:ext cx="98732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blanco / blanca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351" y="3332559"/>
            <a:ext cx="125045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azul · verde · gris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4155" y="3635871"/>
            <a:ext cx="3520832" cy="160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C55E"/>
                </a:solidFill>
                <a:latin typeface="Source Code Pro"/>
              </a:rPr>
              <a:t>Note:</a:t>
            </a:r>
            <a:r>
              <a:rPr sz="900" b="0" i="0">
                <a:solidFill>
                  <a:srgbClr val="E2E8F0">
                    <a:alpha val="70000"/>
                  </a:srgbClr>
                </a:solidFill>
                <a:latin typeface="Source Code Pro"/>
              </a:rPr>
              <a:t> azul, verde, gris do not change for gender.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00775" y="2200275"/>
            <a:ext cx="5524500" cy="95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200" y="4169122"/>
            <a:ext cx="5562600" cy="15716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6275" y="4346227"/>
            <a:ext cx="419100" cy="4191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55365" y="5023991"/>
            <a:ext cx="1009650" cy="2095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312640" y="5023991"/>
            <a:ext cx="942975" cy="2095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04133" y="5023991"/>
            <a:ext cx="1866900" cy="2095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55365" y="5298727"/>
            <a:ext cx="4562475" cy="2571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02034" y="4471838"/>
            <a:ext cx="175170" cy="17531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55365" y="4355752"/>
            <a:ext cx="201156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C55E"/>
                </a:solidFill>
                <a:latin typeface="Source Code Pro"/>
              </a:rPr>
              <a:t>ADJECTIVE AGREEMENT RULES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5365" y="4612034"/>
            <a:ext cx="4540819" cy="3241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Adjectives must match the noun in gender and number. Three</a:t>
            </a: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 rules cover all cases in Spanish.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3351" y="5058221"/>
            <a:ext cx="8556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Masc. sg </a:t>
            </a:r>
            <a:r>
              <a:rPr sz="864" b="0" i="0">
                <a:solidFill>
                  <a:srgbClr val="50D380"/>
                </a:solidFill>
                <a:latin typeface="Cambria Math"/>
              </a:rPr>
              <a:t>→ </a:t>
            </a:r>
            <a:r>
              <a:rPr sz="864" b="0" i="0">
                <a:solidFill>
                  <a:srgbClr val="50D380"/>
                </a:solidFill>
                <a:latin typeface="Source Code Pro"/>
              </a:rPr>
              <a:t>-o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90626" y="5058221"/>
            <a:ext cx="78983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Fem. sg </a:t>
            </a:r>
            <a:r>
              <a:rPr sz="864" b="0" i="0">
                <a:solidFill>
                  <a:srgbClr val="50D380"/>
                </a:solidFill>
                <a:latin typeface="Cambria Math"/>
              </a:rPr>
              <a:t>→ </a:t>
            </a:r>
            <a:r>
              <a:rPr sz="864" b="0" i="0">
                <a:solidFill>
                  <a:srgbClr val="50D380"/>
                </a:solidFill>
                <a:latin typeface="Source Code Pro"/>
              </a:rPr>
              <a:t>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2119" y="5058221"/>
            <a:ext cx="171122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-e / consonant </a:t>
            </a:r>
            <a:r>
              <a:rPr sz="864" b="0" i="0">
                <a:solidFill>
                  <a:srgbClr val="50D380"/>
                </a:solidFill>
                <a:latin typeface="Cambria Math"/>
              </a:rPr>
              <a:t>→ </a:t>
            </a:r>
            <a:r>
              <a:rPr sz="864" b="0" i="0">
                <a:solidFill>
                  <a:srgbClr val="50D380"/>
                </a:solidFill>
                <a:latin typeface="Source Code Pro"/>
              </a:rPr>
              <a:t>no change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9155" y="5361533"/>
            <a:ext cx="3944687" cy="160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C55E"/>
                </a:solidFill>
                <a:latin typeface="Source Code Pro"/>
              </a:rPr>
              <a:t>Example:</a:t>
            </a:r>
            <a:r>
              <a:rPr sz="900" b="0" i="0">
                <a:solidFill>
                  <a:srgbClr val="E2E8F0">
                    <a:alpha val="70000"/>
                  </a:srgbClr>
                </a:solidFill>
                <a:latin typeface="Source Code Pro"/>
              </a:rPr>
              <a:t> El libro rojo · La mesa roja · El libro grande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5775" y="4181475"/>
            <a:ext cx="5524500" cy="95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72200" y="4169122"/>
            <a:ext cx="5562600" cy="15716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91275" y="4346227"/>
            <a:ext cx="419100" cy="4191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70365" y="5023991"/>
            <a:ext cx="1200150" cy="2095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225135" y="5023991"/>
            <a:ext cx="942975" cy="2095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16628" y="5023991"/>
            <a:ext cx="1143000" cy="2095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970365" y="5283547"/>
            <a:ext cx="1600200" cy="2095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06021" y="4471838"/>
            <a:ext cx="197197" cy="17531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970365" y="4355752"/>
            <a:ext cx="225281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C55E"/>
                </a:solidFill>
                <a:latin typeface="Source Code Pro"/>
              </a:rPr>
              <a:t>BASIC DESCRIPTIVE ADJECTIVES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70365" y="4612034"/>
            <a:ext cx="4695185" cy="3241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8 high-frequency adjectives for everyday descriptions. Apply</a:t>
            </a:r>
            <a:r>
              <a:rPr sz="984" b="0" i="0">
                <a:solidFill>
                  <a:srgbClr val="E2E8F0">
                    <a:alpha val="82000"/>
                  </a:srgbClr>
                </a:solidFill>
                <a:latin typeface="Source Code Pro"/>
              </a:rPr>
              <a:t> gender agreement rules to all -o/-a ending pairs.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8351" y="5058221"/>
            <a:ext cx="105310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grande · pequeño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03121" y="5058221"/>
            <a:ext cx="78983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bueno · malo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94614" y="5058221"/>
            <a:ext cx="98732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fácil · difícil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8351" y="5317777"/>
            <a:ext cx="14479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0D380"/>
                </a:solidFill>
                <a:latin typeface="Source Code Pro"/>
              </a:rPr>
              <a:t>interesante · aburrido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00775" y="4181475"/>
            <a:ext cx="5524500" cy="9525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6838950"/>
            <a:ext cx="12192000" cy="190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57200" y="6556920"/>
            <a:ext cx="172209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2C55E">
                    <a:alpha val="30000"/>
                  </a:srgbClr>
                </a:solidFill>
                <a:latin typeface="Source Code Pro"/>
              </a:rPr>
              <a:t>// sprint.es  ·  lesson_03.md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028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85750"/>
            <a:ext cx="6593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22C55E"/>
                </a:solidFill>
                <a:latin typeface="Source Code Pro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630" y="285750"/>
            <a:ext cx="1514028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2C55E"/>
                </a:solidFill>
                <a:latin typeface="Source Code Pro"/>
              </a:rPr>
              <a:t>SPRINT PROGRESS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83542"/>
            <a:ext cx="5141752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Source Code Pro"/>
              </a:rPr>
              <a:t>MILESTONE </a:t>
            </a:r>
            <a:r>
              <a:rPr sz="3000" b="1" i="0">
                <a:solidFill>
                  <a:srgbClr val="22C55E"/>
                </a:solidFill>
                <a:latin typeface="Source Code Pro"/>
              </a:rPr>
              <a:t>CHECKPOINTS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721" y="507355"/>
            <a:ext cx="89177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C55E">
                    <a:alpha val="50000"/>
                  </a:srgbClr>
                </a:solidFill>
                <a:latin typeface="Source Code Pro"/>
              </a:rPr>
              <a:t>14-DAY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2773" y="716905"/>
            <a:ext cx="157772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C55E">
                    <a:alpha val="35000"/>
                  </a:srgbClr>
                </a:solidFill>
                <a:latin typeface="Source Code Pro"/>
              </a:rPr>
              <a:t>// 3 MILESTONES DEFINED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4781550"/>
            <a:ext cx="11620500" cy="1314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601" y="5270599"/>
            <a:ext cx="9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1958" y="5270599"/>
            <a:ext cx="9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0091" y="5270599"/>
            <a:ext cx="95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2516" y="5289649"/>
            <a:ext cx="1209675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5391" y="5375374"/>
            <a:ext cx="114300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6775" y="5243958"/>
            <a:ext cx="890885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2C55E"/>
                </a:solidFill>
                <a:latin typeface="Source Code Pro"/>
              </a:rPr>
              <a:t>// SPRINT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5449788"/>
            <a:ext cx="4664273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E8F0"/>
                </a:solidFill>
                <a:latin typeface="Source Code Pro"/>
              </a:rPr>
              <a:t>~77 vocabulary items &amp; grammar rules across 14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448" y="5237857"/>
            <a:ext cx="2744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Source Code Pro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4635" y="5509319"/>
            <a:ext cx="90606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94A3B8"/>
                </a:solidFill>
                <a:latin typeface="Source Code Pro"/>
              </a:rPr>
              <a:t>LESSON 1 PHRASES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932" y="5237857"/>
            <a:ext cx="13721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Source Code Pro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6026" y="5509319"/>
            <a:ext cx="45303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94A3B8"/>
                </a:solidFill>
                <a:latin typeface="Source Code Pro"/>
              </a:rPr>
              <a:t>PRONOUNS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3493" y="5237857"/>
            <a:ext cx="2744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Source Code Pro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4383" y="5509319"/>
            <a:ext cx="792807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94A3B8"/>
                </a:solidFill>
                <a:latin typeface="Source Code Pro"/>
              </a:rPr>
              <a:t>QUIZ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6841" y="5375374"/>
            <a:ext cx="75455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0D380"/>
                </a:solidFill>
                <a:latin typeface="Source Code Pro"/>
              </a:rPr>
              <a:t>Pass: 10/12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3500" y="2477392"/>
            <a:ext cx="9525000" cy="190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200" y="2362200"/>
            <a:ext cx="975360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250" y="3300263"/>
            <a:ext cx="3143250" cy="15049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9175" y="3471713"/>
            <a:ext cx="98970" cy="9911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175" y="3897362"/>
            <a:ext cx="98970" cy="9911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9175" y="4323010"/>
            <a:ext cx="98970" cy="991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68375" y="3029842"/>
            <a:ext cx="132099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2C55E"/>
                </a:solidFill>
                <a:latin typeface="Source Code Pro"/>
              </a:rPr>
              <a:t>LESSON 1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4345" y="3462188"/>
            <a:ext cx="2557135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Greet, say goodbye, and use polite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phrases in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4345" y="3887837"/>
            <a:ext cx="2337159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Master all </a:t>
            </a:r>
            <a:r>
              <a:rPr sz="936" b="1" i="0">
                <a:solidFill>
                  <a:srgbClr val="E2E8F0"/>
                </a:solidFill>
                <a:latin typeface="Source Code Pro"/>
              </a:rPr>
              <a:t>16 core phrases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from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Lesson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4345" y="4313485"/>
            <a:ext cx="2777417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Hola, Buenos días, Gracias, De nada &amp;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more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09750" y="1857375"/>
            <a:ext cx="1238250" cy="12382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06984" y="2355502"/>
            <a:ext cx="243780" cy="24378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59384" y="2058292"/>
            <a:ext cx="381000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516534" y="2086867"/>
            <a:ext cx="27429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A1A16"/>
                </a:solidFill>
                <a:latin typeface="Source Code Pro"/>
              </a:rPr>
              <a:t>DAY 5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24375" y="3300263"/>
            <a:ext cx="3143250" cy="15049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86300" y="3471713"/>
            <a:ext cx="98970" cy="99119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86300" y="3897362"/>
            <a:ext cx="98970" cy="99119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86300" y="4323010"/>
            <a:ext cx="98970" cy="9911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35500" y="3029842"/>
            <a:ext cx="132099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2C55E"/>
                </a:solidFill>
                <a:latin typeface="Source Code Pro"/>
              </a:rPr>
              <a:t>LESSON 2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1470" y="3462188"/>
            <a:ext cx="2483861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Introduce yourself using </a:t>
            </a:r>
            <a:r>
              <a:rPr sz="936" b="1" i="0">
                <a:solidFill>
                  <a:srgbClr val="E2E8F0"/>
                </a:solidFill>
                <a:latin typeface="Source Code Pro"/>
              </a:rPr>
              <a:t>Verb Ser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correctly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1470" y="3887837"/>
            <a:ext cx="2630715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Know all </a:t>
            </a:r>
            <a:r>
              <a:rPr sz="936" b="1" i="0">
                <a:solidFill>
                  <a:srgbClr val="E2E8F0"/>
                </a:solidFill>
                <a:latin typeface="Source Code Pro"/>
              </a:rPr>
              <a:t>9 personal pronouns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+ full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Ser conjugation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1470" y="4313485"/>
            <a:ext cx="2630562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Describe people using occupations &amp;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nationalities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76875" y="1857375"/>
            <a:ext cx="1238250" cy="12382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43600" y="2355502"/>
            <a:ext cx="304800" cy="2437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71741" y="2058292"/>
            <a:ext cx="438150" cy="1714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128891" y="2086867"/>
            <a:ext cx="329058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A1A16"/>
                </a:solidFill>
                <a:latin typeface="Source Code Pro"/>
              </a:rPr>
              <a:t>DAY 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91500" y="3300263"/>
            <a:ext cx="3143250" cy="15049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53425" y="3471713"/>
            <a:ext cx="98970" cy="99119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53425" y="3897362"/>
            <a:ext cx="98970" cy="99119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53425" y="4323010"/>
            <a:ext cx="98970" cy="9911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258002" y="3029842"/>
            <a:ext cx="101024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0D380"/>
                </a:solidFill>
                <a:latin typeface="Source Code Pro"/>
              </a:rPr>
              <a:t>QUIZ 1 PASSED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28595" y="3462188"/>
            <a:ext cx="2704143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Pass </a:t>
            </a:r>
            <a:r>
              <a:rPr sz="936" b="1" i="0">
                <a:solidFill>
                  <a:srgbClr val="E2E8F0"/>
                </a:solidFill>
                <a:latin typeface="Source Code Pro"/>
              </a:rPr>
              <a:t>12-question Quiz 1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covering all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3 lessons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8595" y="3887837"/>
            <a:ext cx="2704143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Know </a:t>
            </a:r>
            <a:r>
              <a:rPr sz="936" b="1" i="0">
                <a:solidFill>
                  <a:srgbClr val="E2E8F0"/>
                </a:solidFill>
                <a:latin typeface="Source Code Pro"/>
              </a:rPr>
              <a:t>20 numbers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, 8 colors, adjective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agreement rules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8595" y="4313485"/>
            <a:ext cx="2777570" cy="3175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4A3B8"/>
                </a:solidFill>
                <a:latin typeface="Source Code Pro"/>
              </a:rPr>
              <a:t>Target score: </a:t>
            </a:r>
            <a:r>
              <a:rPr sz="936" b="1" i="0">
                <a:solidFill>
                  <a:srgbClr val="50D380"/>
                </a:solidFill>
                <a:latin typeface="Source Code Pro"/>
              </a:rPr>
              <a:t>10/12 (83%)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to complete</a:t>
            </a:r>
            <a:r>
              <a:rPr sz="936" b="0" i="0">
                <a:solidFill>
                  <a:srgbClr val="94A3B8"/>
                </a:solidFill>
                <a:latin typeface="Source Code Pro"/>
              </a:rPr>
              <a:t> sprint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58275" y="1771650"/>
            <a:ext cx="1409700" cy="14097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25905" y="2355502"/>
            <a:ext cx="274290" cy="24378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38866" y="2058292"/>
            <a:ext cx="438150" cy="1714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796016" y="2086867"/>
            <a:ext cx="329058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A1A16"/>
                </a:solidFill>
                <a:latin typeface="Source Code Pro"/>
              </a:rPr>
              <a:t>DAY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090" y="375344"/>
            <a:ext cx="1630709" cy="278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47650"/>
            <a:ext cx="6629400" cy="523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501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C55E"/>
                </a:solidFill>
                <a:latin typeface="Source Code Pro"/>
              </a:rPr>
              <a:t>Quiz 1 Preview: 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33570" y="428625"/>
            <a:ext cx="137174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A18"/>
                </a:solidFill>
                <a:latin typeface="Source Code Pro"/>
              </a:rPr>
              <a:t>MILESTONE 3 · DAY 14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096446"/>
            <a:ext cx="11268075" cy="600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4980" y="6324748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6224736"/>
            <a:ext cx="1028848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C55E"/>
                </a:solidFill>
                <a:latin typeface="Source Code Pro"/>
              </a:rPr>
              <a:t>10/12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6934" y="6212532"/>
            <a:ext cx="8952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94A3B8"/>
                </a:solidFill>
                <a:latin typeface="Source Code Pro"/>
              </a:rPr>
              <a:t>PASS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6934" y="6395293"/>
            <a:ext cx="271908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E2E8F0"/>
                </a:solidFill>
                <a:latin typeface="Source Code Pro"/>
              </a:rPr>
              <a:t>83% correct to complete Milestone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5826" y="6265664"/>
            <a:ext cx="5938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4A3B8"/>
                </a:solidFill>
                <a:latin typeface="Source Code Pro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8430" y="6265664"/>
            <a:ext cx="47505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2C55E"/>
                </a:solidFill>
                <a:latin typeface="Source Code Pro"/>
              </a:rPr>
              <a:t>Pass: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6562" y="6265664"/>
            <a:ext cx="11876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4A3B8"/>
                </a:solidFill>
                <a:latin typeface="Source Code Pro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8760" y="6284862"/>
            <a:ext cx="1407765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50D380"/>
                </a:solidFill>
                <a:latin typeface="Source Code Pro"/>
              </a:rPr>
              <a:t>¡Buen trabajo!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52500"/>
            <a:ext cx="2933700" cy="4991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05" y="1644997"/>
            <a:ext cx="98970" cy="991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305" y="1318641"/>
            <a:ext cx="905023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2E8F0"/>
                </a:solidFill>
                <a:latin typeface="Source Code Pro"/>
              </a:rPr>
              <a:t>Greetings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146" y="1616422"/>
            <a:ext cx="70336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/>
                </a:solidFill>
                <a:latin typeface="Source Code Pro"/>
              </a:rPr>
              <a:t>4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218" y="1881911"/>
            <a:ext cx="2066627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Buenos días — meaning &amp;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18" y="2095628"/>
            <a:ext cx="1969563" cy="320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¿Cómo está usted? — formal</a:t>
            </a: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 greeting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218" y="2469782"/>
            <a:ext cx="2280344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Muchas gracias — polite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218" y="2683499"/>
            <a:ext cx="2066627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Hasta luego — farewell phrase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962025"/>
            <a:ext cx="28575" cy="49720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4305" y="1129605"/>
            <a:ext cx="5938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0D380">
                    <a:alpha val="80000"/>
                  </a:srgbClr>
                </a:solidFill>
                <a:latin typeface="Source Code Pro"/>
              </a:rPr>
              <a:t>SECTION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305" y="1898302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305" y="2112019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305" y="2486173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305" y="2699891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Q4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2984" y="5484911"/>
            <a:ext cx="335160" cy="33530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9550" y="952500"/>
            <a:ext cx="2933700" cy="49911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656" y="1644997"/>
            <a:ext cx="98970" cy="991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726656" y="1318641"/>
            <a:ext cx="1407765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2E8F0"/>
                </a:solidFill>
                <a:latin typeface="Source Code Pro"/>
              </a:rPr>
              <a:t>Pronouns &amp; 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497" y="1616422"/>
            <a:ext cx="70336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/>
                </a:solidFill>
                <a:latin typeface="Source Code Pro"/>
              </a:rPr>
              <a:t>4 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4569" y="1881911"/>
            <a:ext cx="2351633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Vosotros — pronoun identification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4569" y="2095628"/>
            <a:ext cx="1676007" cy="320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Soy — first person Ser</a:t>
            </a: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 conjugation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4569" y="2469782"/>
            <a:ext cx="2066627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Son — third person plural 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4569" y="2683499"/>
            <a:ext cx="2351633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Mucho gusto — introduction phrase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2350" y="962025"/>
            <a:ext cx="28575" cy="49720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726656" y="1129605"/>
            <a:ext cx="5938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0D380">
                    <a:alpha val="80000"/>
                  </a:srgbClr>
                </a:solidFill>
                <a:latin typeface="Source Code Pro"/>
              </a:rPr>
              <a:t>SECTION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6656" y="1898302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6656" y="2112019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6656" y="2486173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26656" y="2699891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Q8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7304" y="5484911"/>
            <a:ext cx="293340" cy="335309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2050" y="952500"/>
            <a:ext cx="2933700" cy="49911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19155" y="1846064"/>
            <a:ext cx="98970" cy="9911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19155" y="1318641"/>
            <a:ext cx="1847057" cy="4022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2E8F0"/>
                </a:solidFill>
                <a:latin typeface="Source Code Pro"/>
              </a:rPr>
              <a:t>Numbers, Colors &amp;</a:t>
            </a:r>
            <a:r>
              <a:rPr sz="1320" b="1" i="0">
                <a:solidFill>
                  <a:srgbClr val="E2E8F0"/>
                </a:solidFill>
                <a:latin typeface="Source Code Pro"/>
              </a:rPr>
              <a:t> Adjectives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8997" y="1817489"/>
            <a:ext cx="70336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/>
                </a:solidFill>
                <a:latin typeface="Source Code Pro"/>
              </a:rPr>
              <a:t>4 Questions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27068" y="2082978"/>
            <a:ext cx="2066627" cy="16047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Quince — number 15 in Spanish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92850" y="2296695"/>
            <a:ext cx="2116417" cy="320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Amarillo — color translation</a:t>
            </a: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 (Yellow)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2850" y="2670849"/>
            <a:ext cx="2116417" cy="320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Los coches rojos — adjective</a:t>
            </a: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 agreement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2850" y="3045003"/>
            <a:ext cx="1969563" cy="3209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Fácil — adjective usage in</a:t>
            </a:r>
            <a:r>
              <a:rPr sz="936" b="0" i="1">
                <a:solidFill>
                  <a:srgbClr val="E2E8F0">
                    <a:alpha val="75000"/>
                  </a:srgbClr>
                </a:solidFill>
                <a:latin typeface="Source Code Pro"/>
              </a:rPr>
              <a:t> context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8450" y="962025"/>
            <a:ext cx="28575" cy="49720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19155" y="1129605"/>
            <a:ext cx="5938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0D380">
                    <a:alpha val="80000"/>
                  </a:srgbClr>
                </a:solidFill>
                <a:latin typeface="Source Code Pro"/>
              </a:rPr>
              <a:t>SECTION 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9155" y="2099369"/>
            <a:ext cx="1317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9155" y="2313086"/>
            <a:ext cx="19749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9155" y="2687240"/>
            <a:ext cx="19749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9155" y="3061394"/>
            <a:ext cx="19749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50D380">
                    <a:alpha val="70000"/>
                  </a:srgbClr>
                </a:solidFill>
                <a:latin typeface="Source Code Pro"/>
              </a:rPr>
              <a:t>Q12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7834" y="5484911"/>
            <a:ext cx="335160" cy="335309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4401" y="952500"/>
            <a:ext cx="2000250" cy="49911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26" y="3904357"/>
            <a:ext cx="76200" cy="762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58226" y="4105423"/>
            <a:ext cx="76200" cy="762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58226" y="4306490"/>
            <a:ext cx="76200" cy="762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286851" y="2474267"/>
            <a:ext cx="8952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22C55E"/>
                </a:solidFill>
                <a:latin typeface="Source Code Pro"/>
              </a:rPr>
              <a:t>QUIZ STRUCTURE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02887" y="3864768"/>
            <a:ext cx="80798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Greetings (4)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02887" y="4065835"/>
            <a:ext cx="111874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Pronouns &amp; Ser (4)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02887" y="4266902"/>
            <a:ext cx="111874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E2E8F0">
                    <a:alpha val="75000"/>
                  </a:srgbClr>
                </a:solidFill>
                <a:latin typeface="Source Code Pro"/>
              </a:rPr>
              <a:t>Numbers/Colors (4)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44075" y="962025"/>
            <a:ext cx="1981200" cy="28575"/>
          </a:xfrm>
          <a:prstGeom prst="rect">
            <a:avLst/>
          </a:prstGeom>
        </p:spPr>
      </p:pic>
      <p:graphicFrame>
        <p:nvGraphicFramePr>
          <p:cNvPr id="69" name="Chart 68"/>
          <p:cNvGraphicFramePr>
            <a:graphicFrameLocks noGrp="1"/>
          </p:cNvGraphicFramePr>
          <p:nvPr/>
        </p:nvGraphicFramePr>
        <p:xfrm>
          <a:off x="10210651" y="2725638"/>
          <a:ext cx="1047749" cy="1047749"/>
        </p:xfrm>
        <a:graphic>
          <a:graphicData uri="http://schemas.openxmlformats.org/drawingml/2006/chart">
            <c:chart xmlns:c="http://schemas.openxmlformats.org/drawingml/2006/chart" r:id="rId24"/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10588228" y="3056230"/>
            <a:ext cx="29259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E2E8F0"/>
                </a:solidFill>
                <a:latin typeface="Source Code Pro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153" y="3302793"/>
            <a:ext cx="438745" cy="1239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94A3B8"/>
                </a:solidFill>
                <a:latin typeface="Source Code Pro"/>
              </a:rPr>
              <a:t>TOTAL Qs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25826" y="6460033"/>
            <a:ext cx="3619500" cy="762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25826" y="6460033"/>
            <a:ext cx="3009900" cy="762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40787" y="6440983"/>
            <a:ext cx="190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5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2240" y="289470"/>
            <a:ext cx="1162050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560" y="212318"/>
            <a:ext cx="6858000" cy="4114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C55E"/>
                </a:solidFill>
                <a:effectLst>
                  <a:outerShdw blurRad="171450" dist="0" dir="0" algn="ctr" rotWithShape="0">
                    <a:srgbClr val="22C55E">
                      <a:alpha val="35000"/>
                    </a:srgbClr>
                  </a:outerShdw>
                </a:effectLst>
                <a:latin typeface="Source Code Pro"/>
              </a:rPr>
              <a:t>¡Buen Trabajo! Sprint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8835" y="362486"/>
            <a:ext cx="869007" cy="1129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89"/>
              </a:lnSpc>
              <a:spcBef>
                <a:spcPts val="0"/>
              </a:spcBef>
              <a:spcAft>
                <a:spcPts val="0"/>
              </a:spcAft>
            </a:pPr>
            <a:r>
              <a:rPr sz="741" b="1" i="0">
                <a:solidFill>
                  <a:srgbClr val="22C55E"/>
                </a:solidFill>
                <a:latin typeface="Source Code Pro"/>
              </a:rPr>
              <a:t>14-DAY SPRINT </a:t>
            </a:r>
            <a:r>
              <a:rPr sz="741" b="1" i="0">
                <a:solidFill>
                  <a:srgbClr val="22C55E"/>
                </a:solidFill>
                <a:latin typeface="Segoe UI Emoji"/>
              </a:rPr>
              <a:t>✓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150" y="516255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1050" y="516255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516255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81325" y="5218721"/>
            <a:ext cx="1678325" cy="121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57"/>
              </a:lnSpc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94A3B8"/>
                </a:solidFill>
                <a:latin typeface="Source Code Pro"/>
              </a:rPr>
              <a:t>Quiz 1 target: </a:t>
            </a:r>
            <a:r>
              <a:rPr sz="798" b="1" i="0">
                <a:solidFill>
                  <a:srgbClr val="22C55E"/>
                </a:solidFill>
                <a:latin typeface="Source Code Pro"/>
              </a:rPr>
              <a:t>10/12 (83%)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5843" y="5218721"/>
            <a:ext cx="2741565" cy="121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57"/>
              </a:lnSpc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94A3B8"/>
                </a:solidFill>
                <a:latin typeface="Source Code Pro"/>
              </a:rPr>
              <a:t>Review missed answers </a:t>
            </a:r>
            <a:r>
              <a:rPr sz="798" b="1" i="0">
                <a:solidFill>
                  <a:srgbClr val="94A3B8"/>
                </a:solidFill>
                <a:latin typeface="Cambria Math"/>
              </a:rPr>
              <a:t>→ </a:t>
            </a:r>
            <a:r>
              <a:rPr sz="798" b="1" i="0">
                <a:solidFill>
                  <a:srgbClr val="94A3B8"/>
                </a:solidFill>
                <a:latin typeface="Source Code Pro"/>
              </a:rPr>
              <a:t>practice </a:t>
            </a:r>
            <a:r>
              <a:rPr sz="798" b="1" i="0">
                <a:solidFill>
                  <a:srgbClr val="22C55E"/>
                </a:solidFill>
                <a:latin typeface="Source Code Pro"/>
              </a:rPr>
              <a:t>15 min/day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2634" y="5218721"/>
            <a:ext cx="1740868" cy="121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57"/>
              </a:lnSpc>
              <a:spcBef>
                <a:spcPts val="0"/>
              </a:spcBef>
              <a:spcAft>
                <a:spcPts val="0"/>
              </a:spcAft>
            </a:pPr>
            <a:r>
              <a:rPr sz="798" b="1" i="0">
                <a:solidFill>
                  <a:srgbClr val="22C55E"/>
                </a:solidFill>
                <a:latin typeface="Source Code Pro"/>
              </a:rPr>
              <a:t>¡Buen Trabajo!</a:t>
            </a:r>
            <a:r>
              <a:rPr sz="798" b="1" i="0">
                <a:solidFill>
                  <a:srgbClr val="94A3B8"/>
                </a:solidFill>
                <a:latin typeface="Source Code Pro"/>
              </a:rPr>
              <a:t> — Great Job!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5952" y="1912984"/>
            <a:ext cx="8278218" cy="10038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E2E8F0"/>
                </a:solidFill>
                <a:latin typeface="Source Code Pro"/>
              </a:rPr>
              <a:t>¡Sigue adelante! In </a:t>
            </a:r>
            <a:r>
              <a:rPr sz="2160" b="1" i="0">
                <a:solidFill>
                  <a:srgbClr val="22C55E"/>
                </a:solidFill>
                <a:effectLst>
                  <a:outerShdw blurRad="95250" dist="0" dir="0" algn="ctr" rotWithShape="0">
                    <a:srgbClr val="22C55E">
                      <a:alpha val="40000"/>
                    </a:srgbClr>
                  </a:outerShdw>
                </a:effectLst>
                <a:latin typeface="Source Code Pro"/>
              </a:rPr>
              <a:t>14 days</a:t>
            </a:r>
            <a:r>
              <a:rPr sz="2160" b="1" i="1">
                <a:solidFill>
                  <a:srgbClr val="E2E8F0"/>
                </a:solidFill>
                <a:latin typeface="Source Code Pro"/>
              </a:rPr>
              <a:t> you have mastered </a:t>
            </a:r>
            <a:r>
              <a:rPr sz="2160" b="1" i="0">
                <a:solidFill>
                  <a:srgbClr val="22C55E"/>
                </a:solidFill>
                <a:effectLst>
                  <a:outerShdw blurRad="95250" dist="0" dir="0" algn="ctr" rotWithShape="0">
                    <a:srgbClr val="22C55E">
                      <a:alpha val="40000"/>
                    </a:srgbClr>
                  </a:outerShdw>
                </a:effectLst>
                <a:latin typeface="Source Code Pro"/>
              </a:rPr>
              <a:t>77</a:t>
            </a:r>
            <a:r>
              <a:rPr sz="2160" b="1" i="0">
                <a:solidFill>
                  <a:srgbClr val="22C55E"/>
                </a:solidFill>
                <a:effectLst>
                  <a:outerShdw blurRad="95250" dist="0" dir="0" algn="ctr" rotWithShape="0">
                    <a:srgbClr val="22C55E">
                      <a:alpha val="40000"/>
                    </a:srgbClr>
                  </a:outerShdw>
                </a:effectLst>
                <a:latin typeface="Source Code Pro"/>
              </a:rPr>
              <a:t> vocabulary items</a:t>
            </a:r>
            <a:r>
              <a:rPr sz="2160" b="1" i="1">
                <a:solidFill>
                  <a:srgbClr val="E2E8F0"/>
                </a:solidFill>
                <a:latin typeface="Source Code Pro"/>
              </a:rPr>
              <a:t> and grammar rules </a:t>
            </a:r>
            <a:r>
              <a:rPr sz="2160" b="1" i="1">
                <a:solidFill>
                  <a:srgbClr val="E2E8F0"/>
                </a:solidFill>
                <a:latin typeface="Source Code Pro"/>
              </a:rPr>
              <a:t>across </a:t>
            </a:r>
            <a:r>
              <a:rPr sz="2160" b="1" i="0">
                <a:solidFill>
                  <a:srgbClr val="22C55E"/>
                </a:solidFill>
                <a:effectLst>
                  <a:outerShdw blurRad="95250" dist="0" dir="0" algn="ctr" rotWithShape="0">
                    <a:srgbClr val="22C55E">
                      <a:alpha val="40000"/>
                    </a:srgbClr>
                  </a:outerShdw>
                </a:effectLst>
                <a:latin typeface="Source Code Pro"/>
              </a:rPr>
              <a:t>3</a:t>
            </a:r>
            <a:r>
              <a:rPr sz="2160" b="1" i="0">
                <a:solidFill>
                  <a:srgbClr val="22C55E"/>
                </a:solidFill>
                <a:effectLst>
                  <a:outerShdw blurRad="95250" dist="0" dir="0" algn="ctr" rotWithShape="0">
                    <a:srgbClr val="22C55E">
                      <a:alpha val="40000"/>
                    </a:srgbClr>
                  </a:outerShdw>
                </a:effectLst>
                <a:latin typeface="Source Code Pro"/>
              </a:rPr>
              <a:t> complete lessons</a:t>
            </a:r>
            <a:r>
              <a:rPr sz="2160" b="1" i="1">
                <a:solidFill>
                  <a:srgbClr val="E2E8F0"/>
                </a:solidFill>
                <a:latin typeface="Source Code Pro"/>
              </a:rPr>
              <a:t>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945" y="3037915"/>
            <a:ext cx="2018109" cy="1303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26"/>
              </a:lnSpc>
              <a:spcBef>
                <a:spcPts val="0"/>
              </a:spcBef>
              <a:spcAft>
                <a:spcPts val="0"/>
              </a:spcAft>
            </a:pPr>
            <a:r>
              <a:rPr sz="855" b="0" i="0">
                <a:solidFill>
                  <a:srgbClr val="94A3B8"/>
                </a:solidFill>
                <a:latin typeface="Source Code Pro"/>
              </a:rPr>
              <a:t>// SPRINT SUMMARY — KEEP GOING!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9750" y="1720155"/>
            <a:ext cx="405854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201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22C55E">
                    <a:alpha val="12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6395" y="2474416"/>
            <a:ext cx="405854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201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22C55E">
                    <a:alpha val="12000"/>
                  </a:srgbClr>
                </a:solidFill>
                <a:latin typeface="Georgia"/>
              </a:rPr>
              <a:t>”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3124200"/>
            <a:ext cx="2952750" cy="2076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2525" y="3400425"/>
            <a:ext cx="2362200" cy="1466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2535" y="3915667"/>
            <a:ext cx="2744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effectLst>
                  <a:outerShdw blurRad="114300" dist="0" dir="0" algn="ctr" rotWithShape="0">
                    <a:srgbClr val="22C55E">
                      <a:alpha val="30000"/>
                    </a:srgbClr>
                  </a:outerShdw>
                </a:effectLst>
                <a:latin typeface="Source Code Pro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3714" y="4199200"/>
            <a:ext cx="472231" cy="1181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E2E8F0"/>
                </a:solidFill>
                <a:latin typeface="Source Code Pro"/>
              </a:rPr>
              <a:t>LESSON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2733" y="4363433"/>
            <a:ext cx="1975155" cy="225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889"/>
              </a:lnSpc>
              <a:spcBef>
                <a:spcPts val="0"/>
              </a:spcBef>
              <a:spcAft>
                <a:spcPts val="0"/>
              </a:spcAft>
            </a:pPr>
            <a:r>
              <a:rPr sz="684" b="0" i="0">
                <a:solidFill>
                  <a:srgbClr val="94A3B8"/>
                </a:solidFill>
                <a:latin typeface="Source Code Pro"/>
              </a:rPr>
              <a:t>Essential greetings &amp; polite phrases</a:t>
            </a:r>
            <a:r>
              <a:rPr sz="684" b="0" i="0">
                <a:solidFill>
                  <a:srgbClr val="94A3B8"/>
                </a:solidFill>
                <a:latin typeface="Source Code Pro"/>
              </a:rPr>
              <a:t> mastered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217" y="3687365"/>
            <a:ext cx="219075" cy="17531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1850" y="3124200"/>
            <a:ext cx="2952750" cy="2076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7125" y="3400425"/>
            <a:ext cx="2362200" cy="1466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03266" y="3972073"/>
            <a:ext cx="2744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D380"/>
                </a:solidFill>
                <a:effectLst>
                  <a:outerShdw blurRad="114300" dist="0" dir="0" algn="ctr" rotWithShape="0">
                    <a:srgbClr val="22C55E">
                      <a:alpha val="30000"/>
                    </a:srgbClr>
                  </a:outerShdw>
                </a:effectLst>
                <a:latin typeface="Source Code Pro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4444" y="4255605"/>
            <a:ext cx="472231" cy="1181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E2E8F0"/>
                </a:solidFill>
                <a:latin typeface="Source Code Pro"/>
              </a:rPr>
              <a:t>LESSON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9284" y="4419839"/>
            <a:ext cx="2082403" cy="1129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89"/>
              </a:lnSpc>
              <a:spcBef>
                <a:spcPts val="0"/>
              </a:spcBef>
              <a:spcAft>
                <a:spcPts val="0"/>
              </a:spcAft>
            </a:pPr>
            <a:r>
              <a:rPr sz="684" b="0" i="0">
                <a:solidFill>
                  <a:srgbClr val="94A3B8"/>
                </a:solidFill>
                <a:latin typeface="Source Code Pro"/>
              </a:rPr>
              <a:t>9 pronouns + 8 Ser forms + 7 vocab items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0948" y="3743771"/>
            <a:ext cx="219075" cy="17531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76925" y="3124200"/>
            <a:ext cx="2952750" cy="2076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3400425"/>
            <a:ext cx="2362200" cy="14668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13996" y="3915667"/>
            <a:ext cx="2744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BDF8"/>
                </a:solidFill>
                <a:effectLst>
                  <a:outerShdw blurRad="114300" dist="0" dir="0" algn="ctr" rotWithShape="0">
                    <a:srgbClr val="22C55E">
                      <a:alpha val="30000"/>
                    </a:srgbClr>
                  </a:outerShdw>
                </a:effectLst>
                <a:latin typeface="Source Code Pro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5175" y="4199200"/>
            <a:ext cx="472231" cy="1181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E2E8F0"/>
                </a:solidFill>
                <a:latin typeface="Source Code Pro"/>
              </a:rPr>
              <a:t>LESSON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104" y="4363433"/>
            <a:ext cx="2082460" cy="225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889"/>
              </a:lnSpc>
              <a:spcBef>
                <a:spcPts val="0"/>
              </a:spcBef>
              <a:spcAft>
                <a:spcPts val="0"/>
              </a:spcAft>
            </a:pPr>
            <a:r>
              <a:rPr sz="684" b="0" i="0">
                <a:solidFill>
                  <a:srgbClr val="94A3B8"/>
                </a:solidFill>
                <a:latin typeface="Source Code Pro"/>
              </a:rPr>
              <a:t>21 numbers + 8 colors + 8 adjectives +</a:t>
            </a:r>
            <a:r>
              <a:rPr sz="684" b="0" i="0">
                <a:solidFill>
                  <a:srgbClr val="94A3B8"/>
                </a:solidFill>
                <a:latin typeface="Source Code Pro"/>
              </a:rPr>
              <a:t> rules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3705" y="3687365"/>
            <a:ext cx="175170" cy="17531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91525" y="3124200"/>
            <a:ext cx="2952750" cy="2076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86800" y="3400425"/>
            <a:ext cx="2362200" cy="14668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19195" y="3915667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9E0B"/>
                </a:solidFill>
                <a:effectLst>
                  <a:outerShdw blurRad="114300" dist="0" dir="0" algn="ctr" rotWithShape="0">
                    <a:srgbClr val="22C55E">
                      <a:alpha val="30000"/>
                    </a:srgbClr>
                  </a:outerShdw>
                </a:effectLst>
                <a:latin typeface="Source Code Pro"/>
              </a:rPr>
              <a:t>Estar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6437" y="4199200"/>
            <a:ext cx="531316" cy="1181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775" b="1" i="0">
                <a:solidFill>
                  <a:srgbClr val="E2E8F0"/>
                </a:solidFill>
                <a:latin typeface="Source Code Pro"/>
              </a:rPr>
              <a:t>NEXT 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0969" y="4363433"/>
            <a:ext cx="1921502" cy="225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889"/>
              </a:lnSpc>
              <a:spcBef>
                <a:spcPts val="0"/>
              </a:spcBef>
              <a:spcAft>
                <a:spcPts val="0"/>
              </a:spcAft>
            </a:pPr>
            <a:r>
              <a:rPr sz="684" b="0" i="0">
                <a:solidFill>
                  <a:srgbClr val="94A3B8"/>
                </a:solidFill>
                <a:latin typeface="Source Code Pro"/>
              </a:rPr>
              <a:t>Begin Lesson 4 — Verb Estar &amp; daily</a:t>
            </a:r>
            <a:r>
              <a:rPr sz="684" b="0" i="0">
                <a:solidFill>
                  <a:srgbClr val="94A3B8"/>
                </a:solidFill>
                <a:latin typeface="Source Code Pro"/>
              </a:rPr>
              <a:t> practice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85449" y="3687365"/>
            <a:ext cx="153292" cy="175319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838950"/>
            <a:ext cx="12192000" cy="190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